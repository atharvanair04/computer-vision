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JetBrains Mono" panose="02000009000000000000" pitchFamily="49" charset="0"/>
      <p:regular r:id="rId27"/>
      <p:bold r:id="rId28"/>
    </p:embeddedFont>
    <p:embeddedFont>
      <p:font typeface="Space Grotesk" pitchFamily="34"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of our Group 1 project. At mid-review we had an adaptive preprocessing layer that barely changed the results. Since then we rebuilt it: proper noise and blur handling, flip test-time augmentation, pose voting and refinement, and evaluated everything on held-out images. The FMP model itself is still the original 2011 model, unchanged. The skeleton on the right is our system’s real output on a held-out PARSE test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estimation fails for more reasons than finding the person. Lighting, pose, noise, blur and scale all change the gradients FMP relies on. The dark panel is measured: baseline FMP on our held-out PARSE images drops about 6.5 PCK points under noise and blur, while dark and low-contrast images barely hurt it. So our question is whether lightweight techniques around the unchanged FMP model can win that loss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the mid-review demo, these are real outputs of our system on held-out PARSE test images. Each column is one condition; the top row is baseline FMP, the bottom row is the full pipeline. Under noise, baseline FMP does not find the person at all, and the enhanced pipeline recovers the full skeleton. These are the best example per condition, picked to show what the stages do; the quantitative results later cover every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stages. The blue ones are new since mid-review. Stage 2 measures the image, stage 3 applies at most one restoration, stage 5 runs the same FMP model on the image and its mirror, stage 6 averages near-duplicate poses instead of trusting a single winner, and stage 7 checks bone lengths. HOG and the pretrained FMP model are identical in both rows, which is what makes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mid-review, noise and blur were detected but not corrected. Now every row is implemented. Two measurement changes mattered as much as the filters: the Immerkær noise estimator separates clean from noisy images cleanly, and the sharpness measure is divided by contrast so low-contrast images are not mistaken for blurred ones. Each image gets at most one fix. Every operator here won a measured comparison on PARSE test images 1 to 100; the rejected list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images are computed from a real PARSE test photo with our own code: the gradient magnitude, and the HOG orientations from FMP’s feature extractor. In the HOG view each cell is shaded by its edge strength so the player stands out; FMP itself sees the normalised version. Because each block is normalised, a global contrast change cancels out, which is why low-contrast fixes did nothing. Noise and blur change the gradient directions themselves, so they must be fixed before HOG. Adaptive HOG was implemented and tested, but it does not change accuracy without retraining the FMP filters, which needs the full INRIA negative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FMP is a classical part-based method, not a CNN. It scores how much each region looks like a part, how plausible the connections are, and combines both with dynamic programming over a 26-part tree. We never change this model. What we add is test-time augmentation: we run the same model on the mirror image too, map the detections back, and swap left and right parts. That gives the model two independent looks at every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boxes are real FMP candidates for this PARSE test image, from our evaluation cache. FMP returns many overlapping candidates; NMS keeps the best one and throws the rest away. But those near-duplicates are useful: they are slightly shifted, near-equally good versions of the same pose. Pose voting averages them, weighted by score, which smooths out the jitter of the HOG cell grid. Our first version averaged whole poses and pulled heads off target. The final version is part-consistent: a candidate only votes for a joint if it agrees with the chosen pose on where that joint is, so two different arm or head hypotheses are never blended. With flip TTA, the mirrored detections vote too. The bottom line is the actual MATLAB call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change since mid-review is the protocol. We split the PARSE test set: images 1 to 100 were used to choose every operator, threshold and parameter; images 101 to 205 were never looked at during tuning and give the numbers we report. BUFFY was never tuned on at all, so it is a true cross-dataset check. Changes come with paired bootstrap confidence intervals, so we can say which gains are real and which are noise. One disclosure: our last improvement, part-consistent voting, was prompted by per-joint losses in a first held-out report; we designed and tuned it on images 1 to 100 only and scored the held-out images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mid-review the clean set went slightly down. Now, on the held-out clean images, the full pipeline is 1.2 PCK points and 1.9 APK points above the baseline. The confidence interval still crosses zero, so we do not claim a significant clean improvement; that is why the title still says “no improvement yet”. What matters is that the pipeline, built for degraded images, now never costs anything on good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joint, legs and elbows gain the most: on clean held-out PARSE images, ankles gain 5.7 points, knees 3.8, hips 3.3. Wrists, heads and shoulders dip slightly. We checked each joint with a paired bootstrap: every dip has a 95% confidence interval that includes zero. The wrist, for example, is 18 joints worse and 10 better out of 210, with an interval from minus 9.5 to plus 1.9; on the tuning images wrists went up. The ankle gain is the only per-joint change that is significant, from plus 1.4 to plus 10.5. We deliberately did not tune further on these images, because that would be fitting the test set. On BUFFY, which we never tuned on, elbows and hips improve most and the mean rises 1.7 points. Blue means a gain, coral a loss; the sign is also written in every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fires where it should: on every noisy image, on 89% of blurred ones and on most dark ones, and rarely on low-contrast images, which we deliberately leave alone. Each image receives at most one operation. About a third of clean PARSE photos are dim or slightly soft and trigger a fix, but the clean result on slide 10 shows this costs nothing. At mid-review, noise and blur were detected but never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mid-review, this slide showed small gains on dark and low-contrast images and nothing on noise and blur. Dark and low contrast are still the smaller gains, plus 2.9 and plus 2.0 PCK, and the dark gain is now statistically significant. The big change is noise and blur: plus 6.0 PCK and 8.1 APK under noise, plus 6.8 PCK and 10.7 APK under blur, both with confidence intervals well above zero. Clean baseline is 75.4 PCK, so noisy images go from 68.8 to 74.8 and blurred from 68.9 to 75.7: nearly back to clean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of both systems on four held-out PARSE test images, numbers 109, 146, 174 and 182, picked at random with a fixed seed, not chosen by how well we did. The same four images appear on the next two slides under the other conditions. Above each pose is that image’s PCK. On individual images the enhanced pipeline sometimes wins and sometimes loses; the second image is hard for both. The averages over all 105 held-out images, on the previous slides, are what we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random images, now under low contrast and under Gaussian noise. Look at the third image under noise: the guard in the booth. Baseline FMP gets 79 percent of his joints; after non-local-means denoising, flip test-time augmentation and voting, the enhanced pipeline gets 93 percent, with the legs now on the body. Under low contrast the two systems are close, which matches the small average gain for that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condition, blur, on the same four random images. On these four, the enhanced pipeline loses a joint on two images and ties on the others; that is what random examples look like. We show them on purpose: slide 3 showed the best example per condition, and these show typical ones. Our claim rests on the averages over all 105 held-out images, with confidence intervals, not on any single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Clean images must not be harmed, and the final pipeline even adds a little there. Dark and low-contrast images gain less because HOG already normalises contrast. Noise and blur need the right operator: our first bilateral filter and sharpening did nothing, while non-local means and Richardson-Lucy deconvolution, combined with flip TTA and part-consistent voting, recover 6 to 7 PCK points. And one generic rule is not enough: measure each image, apply one fix, and always test on images you did not tune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mid-review roadmap with today’s status. Every phase is done except adaptive HOG, which we implemented and tested but which needs the FMP model retrained on the new features; that needs the full INRIA negative set, which is not in our repository. The next steps are that retraining and handling real-world blur, where the blur kernel must be estimated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checks every promise in our abstract. Eight items are delivered. Two were tested and honestly not adopted. CLAHE lowers accuracy when applied to every image, because its tiles add local edges that HOG reads as structure, and on low-contrast images alone it gains only 0.1, below the 0.3 bar we set before testing. Adaptive HOG: the gradient-weighted version changes nothing, a denser scale pyramid gains 0.1 PCK but loses 0.4 APK and doubles the time, and changing cell size or orientation bins changes the feature dimensions the FMP filters were trained on, so it needs retraining. All of these decisions were measured on PARSE test images 1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mid-review we said adaptive preprocessing is the experiment and paired evaluation decides whether it helps. It now has a clear answer. On held-out images it improves FMP in every condition: by 6 to 7 PCK points under noise and blur and 2.9 on dark images, all with confidence intervals above zero, and slightly on clean images too. It carries over to BUFFY without any tuning there. The FMP model itself was never changed.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1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1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2B"/>
        </a:solidFill>
      </p:bgPr>
    </p:bg>
    <p:spTree>
      <p:nvGrpSpPr>
        <p:cNvPr id="1" name=""/>
        <p:cNvGrpSpPr/>
        <p:nvPr/>
      </p:nvGrpSpPr>
      <p:grpSpPr>
        <a:xfrm>
          <a:off x="0" y="0"/>
          <a:ext cx="0" cy="0"/>
          <a:chOff x="0" y="0"/>
          <a:chExt cx="0" cy="0"/>
        </a:xfrm>
      </p:grpSpPr>
      <p:sp>
        <p:nvSpPr>
          <p:cNvPr id="2" name="Text 0"/>
          <p:cNvSpPr/>
          <p:nvPr/>
        </p:nvSpPr>
        <p:spPr>
          <a:xfrm>
            <a:off x="812800" y="1422400"/>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37A"/>
                </a:solidFill>
                <a:latin typeface="JetBrains Mono" pitchFamily="49" charset="0"/>
                <a:ea typeface="JetBrains Mono" pitchFamily="49" charset="-122"/>
                <a:cs typeface="JetBrains Mono" pitchFamily="49" charset="-120"/>
              </a:rPr>
              <a:t>FINAL REVIEW • 2026</a:t>
            </a:r>
            <a:endParaRPr lang="en-US" sz="1200" dirty="0"/>
          </a:p>
        </p:txBody>
      </p:sp>
      <p:sp>
        <p:nvSpPr>
          <p:cNvPr id="3" name="Text 1"/>
          <p:cNvSpPr/>
          <p:nvPr/>
        </p:nvSpPr>
        <p:spPr>
          <a:xfrm>
            <a:off x="812800" y="1838960"/>
            <a:ext cx="6540500" cy="416560"/>
          </a:xfrm>
          <a:prstGeom prst="rect">
            <a:avLst/>
          </a:prstGeom>
          <a:noFill/>
          <a:ln/>
        </p:spPr>
        <p:txBody>
          <a:bodyPr wrap="square" lIns="0" tIns="0" rIns="0" bIns="0" rtlCol="0" anchor="t">
            <a:normAutofit/>
          </a:bodyPr>
          <a:lstStyle/>
          <a:p>
            <a:pPr algn="l" indent="0" marL="0">
              <a:lnSpc>
                <a:spcPts val="3080"/>
              </a:lnSpc>
              <a:buNone/>
            </a:pPr>
            <a:r>
              <a:rPr lang="en-US" sz="2200" spc="400" kern="0" dirty="0">
                <a:solidFill>
                  <a:srgbClr val="BFC6CE"/>
                </a:solidFill>
                <a:latin typeface="Space Grotesk" pitchFamily="34" charset="0"/>
                <a:ea typeface="Space Grotesk" pitchFamily="34" charset="-122"/>
                <a:cs typeface="Space Grotesk" pitchFamily="34" charset="-120"/>
              </a:rPr>
              <a:t>REVISITING</a:t>
            </a:r>
            <a:endParaRPr lang="en-US" sz="2200" dirty="0"/>
          </a:p>
        </p:txBody>
      </p:sp>
      <p:sp>
        <p:nvSpPr>
          <p:cNvPr id="4" name="Text 2"/>
          <p:cNvSpPr/>
          <p:nvPr>
            <p:ph type="title"/>
          </p:nvPr>
        </p:nvSpPr>
        <p:spPr>
          <a:xfrm>
            <a:off x="812800" y="2306320"/>
            <a:ext cx="6540500" cy="13055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5F2EC"/>
                </a:solidFill>
                <a:latin typeface="Space Grotesk" pitchFamily="34" charset="0"/>
                <a:ea typeface="Space Grotesk" pitchFamily="34" charset="-122"/>
                <a:cs typeface="Space Grotesk" pitchFamily="34" charset="-120"/>
              </a:rPr>
              <a:t>CLASSICAL HUMAN POSE ESTIMATION</a:t>
            </a:r>
            <a:endParaRPr lang="en-US" sz="4800" dirty="0"/>
          </a:p>
        </p:txBody>
      </p:sp>
      <p:sp>
        <p:nvSpPr>
          <p:cNvPr id="5" name="Text 3"/>
          <p:cNvSpPr/>
          <p:nvPr/>
        </p:nvSpPr>
        <p:spPr>
          <a:xfrm>
            <a:off x="812800" y="3789680"/>
            <a:ext cx="65405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6CE"/>
                </a:solidFill>
                <a:latin typeface="IBM Plex Sans" pitchFamily="34" charset="0"/>
                <a:ea typeface="IBM Plex Sans" pitchFamily="34" charset="-122"/>
                <a:cs typeface="IBM Plex Sans" pitchFamily="34" charset="-120"/>
              </a:rPr>
              <a:t>Quality-gated restoration, flip test-time augmentation and pose voting around an unchanged Flexible Mixtures-of-Parts model</a:t>
            </a:r>
            <a:endParaRPr lang="en-US" sz="1600" dirty="0"/>
          </a:p>
        </p:txBody>
      </p:sp>
      <p:sp>
        <p:nvSpPr>
          <p:cNvPr id="6" name="Text 4"/>
          <p:cNvSpPr/>
          <p:nvPr/>
        </p:nvSpPr>
        <p:spPr>
          <a:xfrm>
            <a:off x="812800" y="4561840"/>
            <a:ext cx="65405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6CE"/>
                </a:solidFill>
                <a:latin typeface="IBM Plex Sans" pitchFamily="34" charset="0"/>
                <a:ea typeface="IBM Plex Sans" pitchFamily="34" charset="-122"/>
                <a:cs typeface="IBM Plex Sans" pitchFamily="34" charset="-120"/>
              </a:rPr>
              <a:t>Group 1 · G O Ashwin Praveen · Atharva Unnikrishnan Nair · Karthik Kishor · Revathi V</a:t>
            </a:r>
            <a:endParaRPr lang="en-US" sz="1200" dirty="0"/>
          </a:p>
          <a:p>
            <a:pPr algn="l" indent="0" marL="0">
              <a:lnSpc>
                <a:spcPts val="1800"/>
              </a:lnSpc>
              <a:buNone/>
            </a:pPr>
            <a:r>
              <a:rPr lang="en-US" sz="1200" dirty="0">
                <a:solidFill>
                  <a:srgbClr val="BFC6CE"/>
                </a:solidFill>
                <a:latin typeface="IBM Plex Sans" pitchFamily="34" charset="0"/>
                <a:ea typeface="IBM Plex Sans" pitchFamily="34" charset="-122"/>
                <a:cs typeface="IBM Plex Sans" pitchFamily="34" charset="-120"/>
              </a:rPr>
              <a:t>B.Tech Computer Science &amp; Engineering</a:t>
            </a:r>
            <a:endParaRPr lang="en-US" sz="1200" dirty="0"/>
          </a:p>
        </p:txBody>
      </p:sp>
      <p:sp>
        <p:nvSpPr>
          <p:cNvPr id="7" name="Text 5"/>
          <p:cNvSpPr/>
          <p:nvPr/>
        </p:nvSpPr>
        <p:spPr>
          <a:xfrm>
            <a:off x="812800" y="5222240"/>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37A"/>
                </a:solidFill>
                <a:latin typeface="JetBrains Mono" pitchFamily="49" charset="0"/>
                <a:ea typeface="JetBrains Mono" pitchFamily="49" charset="-122"/>
                <a:cs typeface="JetBrains Mono" pitchFamily="49" charset="-120"/>
              </a:rPr>
              <a:t>FROM PIXELS → FEATURES → BODY STRUCTURE</a:t>
            </a:r>
            <a:endParaRPr lang="en-US" sz="1200" dirty="0"/>
          </a:p>
        </p:txBody>
      </p:sp>
      <p:sp>
        <p:nvSpPr>
          <p:cNvPr id="8" name="Shape 6"/>
          <p:cNvSpPr/>
          <p:nvPr/>
        </p:nvSpPr>
        <p:spPr>
          <a:xfrm>
            <a:off x="7569200" y="1593850"/>
            <a:ext cx="3810000" cy="3670300"/>
          </a:xfrm>
          <a:prstGeom prst="roundRect">
            <a:avLst>
              <a:gd name="adj" fmla="val 4152"/>
            </a:avLst>
          </a:prstGeom>
          <a:solidFill>
            <a:srgbClr val="F5F2EC"/>
          </a:solidFill>
          <a:ln/>
        </p:spPr>
      </p:sp>
      <p:pic>
        <p:nvPicPr>
          <p:cNvPr id="9" name="Image 0" descr="Skeleton predicted by the enhanced pipeline on a tennis player from the PARSE test set">    </p:cNvPr>
          <p:cNvPicPr>
            <a:picLocks noChangeAspect="1"/>
          </p:cNvPicPr>
          <p:nvPr/>
        </p:nvPicPr>
        <p:blipFill>
          <a:blip r:embed="rId1"/>
          <a:srcRect l="-26795" r="-26795" t="0" b="0"/>
          <a:stretch/>
        </p:blipFill>
        <p:spPr>
          <a:xfrm>
            <a:off x="7721600" y="1746250"/>
            <a:ext cx="3505200" cy="3365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01 / WHY</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The challenge is not just finding a person</a:t>
            </a:r>
            <a:endParaRPr lang="en-US" sz="3200" dirty="0"/>
          </a:p>
        </p:txBody>
      </p:sp>
      <p:sp>
        <p:nvSpPr>
          <p:cNvPr id="4" name="Shape 2"/>
          <p:cNvSpPr/>
          <p:nvPr/>
        </p:nvSpPr>
        <p:spPr>
          <a:xfrm>
            <a:off x="815975" y="1831975"/>
            <a:ext cx="3092450" cy="1452880"/>
          </a:xfrm>
          <a:prstGeom prst="roundRect">
            <a:avLst>
              <a:gd name="adj" fmla="val 6774"/>
            </a:avLst>
          </a:prstGeom>
          <a:solidFill>
            <a:srgbClr val="FBFAF6"/>
          </a:solidFill>
          <a:ln w="6350">
            <a:solidFill>
              <a:srgbClr val="E2DCD0"/>
            </a:solidFill>
            <a:prstDash val="solid"/>
          </a:ln>
        </p:spPr>
      </p:sp>
      <p:sp>
        <p:nvSpPr>
          <p:cNvPr id="5" name="Text 3"/>
          <p:cNvSpPr/>
          <p:nvPr/>
        </p:nvSpPr>
        <p:spPr>
          <a:xfrm>
            <a:off x="1021080" y="2037080"/>
            <a:ext cx="2762707" cy="23876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17212B"/>
                </a:solidFill>
                <a:latin typeface="Space Grotesk" pitchFamily="34" charset="0"/>
                <a:ea typeface="Space Grotesk" pitchFamily="34" charset="-122"/>
                <a:cs typeface="Space Grotesk" pitchFamily="34" charset="-120"/>
              </a:rPr>
              <a:t>LIGHTING &amp; CONTRAST</a:t>
            </a:r>
            <a:endParaRPr lang="en-US" sz="1400" dirty="0"/>
          </a:p>
        </p:txBody>
      </p:sp>
      <p:sp>
        <p:nvSpPr>
          <p:cNvPr id="6" name="Text 4"/>
          <p:cNvSpPr/>
          <p:nvPr/>
        </p:nvSpPr>
        <p:spPr>
          <a:xfrm>
            <a:off x="1021080" y="2326640"/>
            <a:ext cx="276270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Dark regions and weak edges can hide useful patterns.</a:t>
            </a:r>
            <a:endParaRPr lang="en-US" sz="1300" dirty="0"/>
          </a:p>
        </p:txBody>
      </p:sp>
      <p:sp>
        <p:nvSpPr>
          <p:cNvPr id="7" name="Shape 5"/>
          <p:cNvSpPr/>
          <p:nvPr/>
        </p:nvSpPr>
        <p:spPr>
          <a:xfrm>
            <a:off x="4067175" y="1831975"/>
            <a:ext cx="3092450" cy="1452880"/>
          </a:xfrm>
          <a:prstGeom prst="roundRect">
            <a:avLst>
              <a:gd name="adj" fmla="val 6774"/>
            </a:avLst>
          </a:prstGeom>
          <a:solidFill>
            <a:srgbClr val="FBFAF6"/>
          </a:solidFill>
          <a:ln w="6350">
            <a:solidFill>
              <a:srgbClr val="E2DCD0"/>
            </a:solidFill>
            <a:prstDash val="solid"/>
          </a:ln>
        </p:spPr>
      </p:sp>
      <p:sp>
        <p:nvSpPr>
          <p:cNvPr id="8" name="Text 6"/>
          <p:cNvSpPr/>
          <p:nvPr/>
        </p:nvSpPr>
        <p:spPr>
          <a:xfrm>
            <a:off x="4272280" y="2037080"/>
            <a:ext cx="2762707" cy="23876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17212B"/>
                </a:solidFill>
                <a:latin typeface="Space Grotesk" pitchFamily="34" charset="0"/>
                <a:ea typeface="Space Grotesk" pitchFamily="34" charset="-122"/>
                <a:cs typeface="Space Grotesk" pitchFamily="34" charset="-120"/>
              </a:rPr>
              <a:t>POSE VARIATION</a:t>
            </a:r>
            <a:endParaRPr lang="en-US" sz="1400" dirty="0"/>
          </a:p>
        </p:txBody>
      </p:sp>
      <p:sp>
        <p:nvSpPr>
          <p:cNvPr id="9" name="Text 7"/>
          <p:cNvSpPr/>
          <p:nvPr/>
        </p:nvSpPr>
        <p:spPr>
          <a:xfrm>
            <a:off x="4272280" y="2326640"/>
            <a:ext cx="276270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Arms and legs appear in many configurations.</a:t>
            </a:r>
            <a:endParaRPr lang="en-US" sz="1300" dirty="0"/>
          </a:p>
        </p:txBody>
      </p:sp>
      <p:sp>
        <p:nvSpPr>
          <p:cNvPr id="10" name="Shape 8"/>
          <p:cNvSpPr/>
          <p:nvPr/>
        </p:nvSpPr>
        <p:spPr>
          <a:xfrm>
            <a:off x="815975" y="3443605"/>
            <a:ext cx="3092450" cy="1452880"/>
          </a:xfrm>
          <a:prstGeom prst="roundRect">
            <a:avLst>
              <a:gd name="adj" fmla="val 6774"/>
            </a:avLst>
          </a:prstGeom>
          <a:solidFill>
            <a:srgbClr val="FBFAF6"/>
          </a:solidFill>
          <a:ln w="6350">
            <a:solidFill>
              <a:srgbClr val="E2DCD0"/>
            </a:solidFill>
            <a:prstDash val="solid"/>
          </a:ln>
        </p:spPr>
      </p:sp>
      <p:sp>
        <p:nvSpPr>
          <p:cNvPr id="11" name="Text 9"/>
          <p:cNvSpPr/>
          <p:nvPr/>
        </p:nvSpPr>
        <p:spPr>
          <a:xfrm>
            <a:off x="1021080" y="3648710"/>
            <a:ext cx="2762707" cy="23876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17212B"/>
                </a:solidFill>
                <a:latin typeface="Space Grotesk" pitchFamily="34" charset="0"/>
                <a:ea typeface="Space Grotesk" pitchFamily="34" charset="-122"/>
                <a:cs typeface="Space Grotesk" pitchFamily="34" charset="-120"/>
              </a:rPr>
              <a:t>NOISE &amp; BLUR</a:t>
            </a:r>
            <a:endParaRPr lang="en-US" sz="1400" dirty="0"/>
          </a:p>
        </p:txBody>
      </p:sp>
      <p:sp>
        <p:nvSpPr>
          <p:cNvPr id="12" name="Text 10"/>
          <p:cNvSpPr/>
          <p:nvPr/>
        </p:nvSpPr>
        <p:spPr>
          <a:xfrm>
            <a:off x="1021080" y="3938270"/>
            <a:ext cx="276270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Random gradients and soft edges corrupt HOG features.</a:t>
            </a:r>
            <a:endParaRPr lang="en-US" sz="1300" dirty="0"/>
          </a:p>
        </p:txBody>
      </p:sp>
      <p:sp>
        <p:nvSpPr>
          <p:cNvPr id="13" name="Shape 11"/>
          <p:cNvSpPr/>
          <p:nvPr/>
        </p:nvSpPr>
        <p:spPr>
          <a:xfrm>
            <a:off x="4067175" y="3443605"/>
            <a:ext cx="3092450" cy="1452880"/>
          </a:xfrm>
          <a:prstGeom prst="roundRect">
            <a:avLst>
              <a:gd name="adj" fmla="val 6774"/>
            </a:avLst>
          </a:prstGeom>
          <a:solidFill>
            <a:srgbClr val="FBFAF6"/>
          </a:solidFill>
          <a:ln w="6350">
            <a:solidFill>
              <a:srgbClr val="E2DCD0"/>
            </a:solidFill>
            <a:prstDash val="solid"/>
          </a:ln>
        </p:spPr>
      </p:sp>
      <p:sp>
        <p:nvSpPr>
          <p:cNvPr id="14" name="Text 12"/>
          <p:cNvSpPr/>
          <p:nvPr/>
        </p:nvSpPr>
        <p:spPr>
          <a:xfrm>
            <a:off x="4272280" y="3648710"/>
            <a:ext cx="2762707" cy="23876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17212B"/>
                </a:solidFill>
                <a:latin typeface="Space Grotesk" pitchFamily="34" charset="0"/>
                <a:ea typeface="Space Grotesk" pitchFamily="34" charset="-122"/>
                <a:cs typeface="Space Grotesk" pitchFamily="34" charset="-120"/>
              </a:rPr>
              <a:t>SCALE VARIATION</a:t>
            </a:r>
            <a:endParaRPr lang="en-US" sz="1400" dirty="0"/>
          </a:p>
        </p:txBody>
      </p:sp>
      <p:sp>
        <p:nvSpPr>
          <p:cNvPr id="15" name="Text 13"/>
          <p:cNvSpPr/>
          <p:nvPr/>
        </p:nvSpPr>
        <p:spPr>
          <a:xfrm>
            <a:off x="4272280" y="3938270"/>
            <a:ext cx="276270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The same person can occupy different image sizes.</a:t>
            </a:r>
            <a:endParaRPr lang="en-US" sz="1300" dirty="0"/>
          </a:p>
        </p:txBody>
      </p:sp>
      <p:sp>
        <p:nvSpPr>
          <p:cNvPr id="16" name="Shape 14"/>
          <p:cNvSpPr/>
          <p:nvPr/>
        </p:nvSpPr>
        <p:spPr>
          <a:xfrm>
            <a:off x="7467600" y="1828800"/>
            <a:ext cx="3911600" cy="3070860"/>
          </a:xfrm>
          <a:prstGeom prst="roundRect">
            <a:avLst>
              <a:gd name="adj" fmla="val 3309"/>
            </a:avLst>
          </a:prstGeom>
          <a:solidFill>
            <a:srgbClr val="17212B"/>
          </a:solidFill>
          <a:ln/>
        </p:spPr>
      </p:sp>
      <p:sp>
        <p:nvSpPr>
          <p:cNvPr id="17" name="Text 15"/>
          <p:cNvSpPr/>
          <p:nvPr/>
        </p:nvSpPr>
        <p:spPr>
          <a:xfrm>
            <a:off x="7721600" y="208280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2937A"/>
                </a:solidFill>
                <a:latin typeface="JetBrains Mono" pitchFamily="49" charset="0"/>
                <a:ea typeface="JetBrains Mono" pitchFamily="49" charset="-122"/>
                <a:cs typeface="JetBrains Mono" pitchFamily="49" charset="-120"/>
              </a:rPr>
              <a:t>BASELINE FMP · PCK %</a:t>
            </a:r>
            <a:endParaRPr lang="en-US" sz="1200" dirty="0"/>
          </a:p>
        </p:txBody>
      </p:sp>
      <p:sp>
        <p:nvSpPr>
          <p:cNvPr id="18" name="Text 16"/>
          <p:cNvSpPr/>
          <p:nvPr/>
        </p:nvSpPr>
        <p:spPr>
          <a:xfrm>
            <a:off x="7721600" y="2501900"/>
            <a:ext cx="50406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CE"/>
                </a:solidFill>
                <a:latin typeface="IBM Plex Sans" pitchFamily="34" charset="0"/>
                <a:ea typeface="IBM Plex Sans" pitchFamily="34" charset="-122"/>
                <a:cs typeface="IBM Plex Sans" pitchFamily="34" charset="-120"/>
              </a:rPr>
              <a:t>Clean</a:t>
            </a:r>
            <a:endParaRPr lang="en-US" sz="1300" dirty="0"/>
          </a:p>
        </p:txBody>
      </p:sp>
      <p:sp>
        <p:nvSpPr>
          <p:cNvPr id="19" name="Text 17"/>
          <p:cNvSpPr/>
          <p:nvPr/>
        </p:nvSpPr>
        <p:spPr>
          <a:xfrm>
            <a:off x="10492359" y="2410460"/>
            <a:ext cx="632841"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5F2EC"/>
                </a:solidFill>
                <a:latin typeface="Space Grotesk" pitchFamily="34" charset="0"/>
                <a:ea typeface="Space Grotesk" pitchFamily="34" charset="-122"/>
                <a:cs typeface="Space Grotesk" pitchFamily="34" charset="-120"/>
              </a:rPr>
              <a:t>75.4</a:t>
            </a:r>
            <a:endParaRPr lang="en-US" sz="2000" dirty="0"/>
          </a:p>
        </p:txBody>
      </p:sp>
      <p:sp>
        <p:nvSpPr>
          <p:cNvPr id="20" name="Text 18"/>
          <p:cNvSpPr/>
          <p:nvPr/>
        </p:nvSpPr>
        <p:spPr>
          <a:xfrm>
            <a:off x="7721600" y="2971800"/>
            <a:ext cx="4158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CE"/>
                </a:solidFill>
                <a:latin typeface="IBM Plex Sans" pitchFamily="34" charset="0"/>
                <a:ea typeface="IBM Plex Sans" pitchFamily="34" charset="-122"/>
                <a:cs typeface="IBM Plex Sans" pitchFamily="34" charset="-120"/>
              </a:rPr>
              <a:t>Dark</a:t>
            </a:r>
            <a:endParaRPr lang="en-US" sz="1300" dirty="0"/>
          </a:p>
        </p:txBody>
      </p:sp>
      <p:sp>
        <p:nvSpPr>
          <p:cNvPr id="21" name="Text 19"/>
          <p:cNvSpPr/>
          <p:nvPr/>
        </p:nvSpPr>
        <p:spPr>
          <a:xfrm>
            <a:off x="10502456" y="2880360"/>
            <a:ext cx="622744"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5F2EC"/>
                </a:solidFill>
                <a:latin typeface="Space Grotesk" pitchFamily="34" charset="0"/>
                <a:ea typeface="Space Grotesk" pitchFamily="34" charset="-122"/>
                <a:cs typeface="Space Grotesk" pitchFamily="34" charset="-120"/>
              </a:rPr>
              <a:t>75.5</a:t>
            </a:r>
            <a:endParaRPr lang="en-US" sz="2000" dirty="0"/>
          </a:p>
        </p:txBody>
      </p:sp>
      <p:sp>
        <p:nvSpPr>
          <p:cNvPr id="22" name="Text 20"/>
          <p:cNvSpPr/>
          <p:nvPr/>
        </p:nvSpPr>
        <p:spPr>
          <a:xfrm>
            <a:off x="7721600" y="3441700"/>
            <a:ext cx="114004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CE"/>
                </a:solidFill>
                <a:latin typeface="IBM Plex Sans" pitchFamily="34" charset="0"/>
                <a:ea typeface="IBM Plex Sans" pitchFamily="34" charset="-122"/>
                <a:cs typeface="IBM Plex Sans" pitchFamily="34" charset="-120"/>
              </a:rPr>
              <a:t>Low contrast</a:t>
            </a:r>
            <a:endParaRPr lang="en-US" sz="1300" dirty="0"/>
          </a:p>
        </p:txBody>
      </p:sp>
      <p:sp>
        <p:nvSpPr>
          <p:cNvPr id="23" name="Text 21"/>
          <p:cNvSpPr/>
          <p:nvPr/>
        </p:nvSpPr>
        <p:spPr>
          <a:xfrm>
            <a:off x="10505504" y="3350260"/>
            <a:ext cx="619697"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5F2EC"/>
                </a:solidFill>
                <a:latin typeface="Space Grotesk" pitchFamily="34" charset="0"/>
                <a:ea typeface="Space Grotesk" pitchFamily="34" charset="-122"/>
                <a:cs typeface="Space Grotesk" pitchFamily="34" charset="-120"/>
              </a:rPr>
              <a:t>74.8</a:t>
            </a:r>
            <a:endParaRPr lang="en-US" sz="2000" dirty="0"/>
          </a:p>
        </p:txBody>
      </p:sp>
      <p:sp>
        <p:nvSpPr>
          <p:cNvPr id="24" name="Text 22"/>
          <p:cNvSpPr/>
          <p:nvPr/>
        </p:nvSpPr>
        <p:spPr>
          <a:xfrm>
            <a:off x="7721600" y="3911600"/>
            <a:ext cx="96316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CE"/>
                </a:solidFill>
                <a:latin typeface="IBM Plex Sans" pitchFamily="34" charset="0"/>
                <a:ea typeface="IBM Plex Sans" pitchFamily="34" charset="-122"/>
                <a:cs typeface="IBM Plex Sans" pitchFamily="34" charset="-120"/>
              </a:rPr>
              <a:t>Noise </a:t>
            </a:r>
            <a:r>
              <a:rPr lang="en-US" sz="1300" dirty="0">
                <a:solidFill>
                  <a:srgbClr val="F2937A"/>
                </a:solidFill>
                <a:latin typeface="IBM Plex Sans" pitchFamily="34" charset="0"/>
                <a:ea typeface="IBM Plex Sans" pitchFamily="34" charset="-122"/>
                <a:cs typeface="IBM Plex Sans" pitchFamily="34" charset="-120"/>
              </a:rPr>
              <a:t>−6.6</a:t>
            </a:r>
            <a:endParaRPr lang="en-US" sz="1300" dirty="0"/>
          </a:p>
        </p:txBody>
      </p:sp>
      <p:sp>
        <p:nvSpPr>
          <p:cNvPr id="25" name="Text 23"/>
          <p:cNvSpPr/>
          <p:nvPr/>
        </p:nvSpPr>
        <p:spPr>
          <a:xfrm>
            <a:off x="10480167" y="3820160"/>
            <a:ext cx="645033"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2937A"/>
                </a:solidFill>
                <a:latin typeface="Space Grotesk" pitchFamily="34" charset="0"/>
                <a:ea typeface="Space Grotesk" pitchFamily="34" charset="-122"/>
                <a:cs typeface="Space Grotesk" pitchFamily="34" charset="-120"/>
              </a:rPr>
              <a:t>68.8</a:t>
            </a:r>
            <a:endParaRPr lang="en-US" sz="2000" dirty="0"/>
          </a:p>
        </p:txBody>
      </p:sp>
      <p:sp>
        <p:nvSpPr>
          <p:cNvPr id="26" name="Text 24"/>
          <p:cNvSpPr/>
          <p:nvPr/>
        </p:nvSpPr>
        <p:spPr>
          <a:xfrm>
            <a:off x="7721600" y="4381500"/>
            <a:ext cx="82581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CE"/>
                </a:solidFill>
                <a:latin typeface="IBM Plex Sans" pitchFamily="34" charset="0"/>
                <a:ea typeface="IBM Plex Sans" pitchFamily="34" charset="-122"/>
                <a:cs typeface="IBM Plex Sans" pitchFamily="34" charset="-120"/>
              </a:rPr>
              <a:t>Blur </a:t>
            </a:r>
            <a:r>
              <a:rPr lang="en-US" sz="1300" dirty="0">
                <a:solidFill>
                  <a:srgbClr val="F2937A"/>
                </a:solidFill>
                <a:latin typeface="IBM Plex Sans" pitchFamily="34" charset="0"/>
                <a:ea typeface="IBM Plex Sans" pitchFamily="34" charset="-122"/>
                <a:cs typeface="IBM Plex Sans" pitchFamily="34" charset="-120"/>
              </a:rPr>
              <a:t>−6.5</a:t>
            </a:r>
            <a:endParaRPr lang="en-US" sz="1300" dirty="0"/>
          </a:p>
        </p:txBody>
      </p:sp>
      <p:sp>
        <p:nvSpPr>
          <p:cNvPr id="27" name="Text 25"/>
          <p:cNvSpPr/>
          <p:nvPr/>
        </p:nvSpPr>
        <p:spPr>
          <a:xfrm>
            <a:off x="10477309" y="4290060"/>
            <a:ext cx="647891"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F2937A"/>
                </a:solidFill>
                <a:latin typeface="Space Grotesk" pitchFamily="34" charset="0"/>
                <a:ea typeface="Space Grotesk" pitchFamily="34" charset="-122"/>
                <a:cs typeface="Space Grotesk" pitchFamily="34" charset="-120"/>
              </a:rPr>
              <a:t>68.9</a:t>
            </a:r>
            <a:endParaRPr lang="en-US" sz="2000" dirty="0"/>
          </a:p>
        </p:txBody>
      </p:sp>
      <p:sp>
        <p:nvSpPr>
          <p:cNvPr id="28" name="Text 26"/>
          <p:cNvSpPr/>
          <p:nvPr/>
        </p:nvSpPr>
        <p:spPr>
          <a:xfrm>
            <a:off x="812800" y="515366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12B"/>
                </a:solidFill>
                <a:latin typeface="IBM Plex Sans" pitchFamily="34" charset="0"/>
                <a:ea typeface="IBM Plex Sans" pitchFamily="34" charset="-122"/>
                <a:cs typeface="IBM Plex Sans" pitchFamily="34" charset="-120"/>
              </a:rPr>
              <a:t>Our question:</a:t>
            </a:r>
            <a:r>
              <a:rPr lang="en-US" sz="1500" dirty="0">
                <a:solidFill>
                  <a:srgbClr val="17212B"/>
                </a:solidFill>
                <a:latin typeface="IBM Plex Sans" pitchFamily="34" charset="0"/>
                <a:ea typeface="IBM Plex Sans" pitchFamily="34" charset="-122"/>
                <a:cs typeface="IBM Plex Sans" pitchFamily="34" charset="-120"/>
              </a:rPr>
              <a:t> can lightweight adaptive techniques around an unchanged FMP model recover the accuracy lost to image-quality problems?</a:t>
            </a:r>
            <a:endParaRPr lang="en-US" sz="1500" dirty="0"/>
          </a:p>
        </p:txBody>
      </p:sp>
      <p:sp>
        <p:nvSpPr>
          <p:cNvPr id="29" name="Text 27"/>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30" name="Text 28"/>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38200"/>
            <a:ext cx="10896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02 / DEMO</a:t>
            </a:r>
            <a:endParaRPr lang="en-US" sz="1200" dirty="0"/>
          </a:p>
        </p:txBody>
      </p:sp>
      <p:sp>
        <p:nvSpPr>
          <p:cNvPr id="3" name="Text 1"/>
          <p:cNvSpPr/>
          <p:nvPr/>
        </p:nvSpPr>
        <p:spPr>
          <a:xfrm>
            <a:off x="1902460" y="812800"/>
            <a:ext cx="1574800" cy="264160"/>
          </a:xfrm>
          <a:custGeom>
            <a:avLst/>
            <a:gdLst/>
            <a:ahLst/>
            <a:cxnLst/>
            <a:rect l="l" t="t" r="r" b="b"/>
            <a:pathLst>
              <a:path w="1574800" h="264160">
                <a:moveTo>
                  <a:pt x="132080" y="0"/>
                </a:moveTo>
                <a:lnTo>
                  <a:pt x="1442720" y="0"/>
                </a:lnTo>
                <a:arcTo hR="132080" wR="132080" stAng="16200000" swAng="5400000"/>
                <a:lnTo>
                  <a:pt x="1574800" y="132080"/>
                </a:lnTo>
                <a:arcTo hR="132080" wR="132080" stAng="0" swAng="5400000"/>
                <a:lnTo>
                  <a:pt x="132080" y="264160"/>
                </a:lnTo>
                <a:arcTo hR="132080" wR="132080" stAng="5400000" swAng="5400000"/>
                <a:lnTo>
                  <a:pt x="0" y="132080"/>
                </a:lnTo>
                <a:arcTo hR="132080" wR="132080" stAng="10800000" swAng="5400000"/>
                <a:close/>
              </a:path>
            </a:pathLst>
          </a:custGeom>
          <a:solidFill>
            <a:srgbClr val="E3ECF6"/>
          </a:solidFill>
          <a:ln/>
        </p:spPr>
        <p:txBody>
          <a:bodyPr wrap="none" lIns="0" tIns="0" rIns="0" bIns="0" rtlCol="0" anchor="ctr">
            <a:normAutofit/>
          </a:bodyPr>
          <a:lstStyle/>
          <a:p>
            <a:pPr algn="ctr" indent="0" marL="0">
              <a:lnSpc>
                <a:spcPts val="1680"/>
              </a:lnSpc>
              <a:buNone/>
            </a:pPr>
            <a:r>
              <a:rPr lang="en-US" sz="1200" b="1" dirty="0">
                <a:solidFill>
                  <a:srgbClr val="2D6CB5"/>
                </a:solidFill>
                <a:latin typeface="JetBrains Mono" pitchFamily="49" charset="0"/>
                <a:ea typeface="JetBrains Mono" pitchFamily="49" charset="-122"/>
                <a:cs typeface="JetBrains Mono" pitchFamily="49" charset="-120"/>
              </a:rPr>
              <a:t>MEASURED OUTPUT</a:t>
            </a:r>
            <a:endParaRPr lang="en-US" sz="1200" dirty="0"/>
          </a:p>
        </p:txBody>
      </p:sp>
      <p:sp>
        <p:nvSpPr>
          <p:cNvPr id="4" name="Text 2"/>
          <p:cNvSpPr/>
          <p:nvPr>
            <p:ph type="title"/>
          </p:nvPr>
        </p:nvSpPr>
        <p:spPr>
          <a:xfrm>
            <a:off x="812800" y="11785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Pose estimation: input and output</a:t>
            </a:r>
            <a:endParaRPr lang="en-US" sz="3200" dirty="0"/>
          </a:p>
        </p:txBody>
      </p:sp>
      <p:sp>
        <p:nvSpPr>
          <p:cNvPr id="5" name="Shape 3"/>
          <p:cNvSpPr/>
          <p:nvPr/>
        </p:nvSpPr>
        <p:spPr>
          <a:xfrm>
            <a:off x="815975" y="1882775"/>
            <a:ext cx="7954010" cy="3528060"/>
          </a:xfrm>
          <a:prstGeom prst="roundRect">
            <a:avLst>
              <a:gd name="adj" fmla="val 2790"/>
            </a:avLst>
          </a:prstGeom>
          <a:solidFill>
            <a:srgbClr val="FBFAF6"/>
          </a:solidFill>
          <a:ln w="6350">
            <a:solidFill>
              <a:srgbClr val="E2DCD0"/>
            </a:solidFill>
            <a:prstDash val="solid"/>
          </a:ln>
        </p:spPr>
      </p:sp>
      <p:pic>
        <p:nvPicPr>
          <p:cNvPr id="6" name="Image 0" descr="Held-out PARSE images under clean, dark, low-contrast, noise and blur conditions; top row baseline FMP skeletons, bottom row full-pipeline skeletons">    </p:cNvPr>
          <p:cNvPicPr>
            <a:picLocks noChangeAspect="1"/>
          </p:cNvPicPr>
          <p:nvPr/>
        </p:nvPicPr>
        <p:blipFill>
          <a:blip r:embed="rId1"/>
          <a:srcRect l="-2" r="-2" t="0" b="0"/>
          <a:stretch/>
        </p:blipFill>
        <p:spPr>
          <a:xfrm>
            <a:off x="919480" y="1986280"/>
            <a:ext cx="7747000" cy="3321050"/>
          </a:xfrm>
          <a:prstGeom prst="rect">
            <a:avLst/>
          </a:prstGeom>
        </p:spPr>
      </p:pic>
      <p:sp>
        <p:nvSpPr>
          <p:cNvPr id="7" name="Text 4"/>
          <p:cNvSpPr/>
          <p:nvPr/>
        </p:nvSpPr>
        <p:spPr>
          <a:xfrm>
            <a:off x="9027160" y="1879600"/>
            <a:ext cx="242260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TOP ROW</a:t>
            </a:r>
            <a:endParaRPr lang="en-US" sz="1400" dirty="0"/>
          </a:p>
        </p:txBody>
      </p:sp>
      <p:sp>
        <p:nvSpPr>
          <p:cNvPr id="8" name="Text 5"/>
          <p:cNvSpPr/>
          <p:nvPr/>
        </p:nvSpPr>
        <p:spPr>
          <a:xfrm>
            <a:off x="9027160" y="2143761"/>
            <a:ext cx="24226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Baseline FMP on the degraded image.</a:t>
            </a:r>
            <a:endParaRPr lang="en-US" sz="1300" dirty="0"/>
          </a:p>
        </p:txBody>
      </p:sp>
      <p:sp>
        <p:nvSpPr>
          <p:cNvPr id="9" name="Text 6"/>
          <p:cNvSpPr/>
          <p:nvPr/>
        </p:nvSpPr>
        <p:spPr>
          <a:xfrm>
            <a:off x="9027160" y="2809241"/>
            <a:ext cx="242260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BOTTOM ROW</a:t>
            </a:r>
            <a:endParaRPr lang="en-US" sz="1400" dirty="0"/>
          </a:p>
        </p:txBody>
      </p:sp>
      <p:sp>
        <p:nvSpPr>
          <p:cNvPr id="10" name="Text 7"/>
          <p:cNvSpPr/>
          <p:nvPr/>
        </p:nvSpPr>
        <p:spPr>
          <a:xfrm>
            <a:off x="9027160" y="3073400"/>
            <a:ext cx="24226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Full enhanced pipeline, same image.</a:t>
            </a:r>
            <a:endParaRPr lang="en-US" sz="1300" dirty="0"/>
          </a:p>
        </p:txBody>
      </p:sp>
      <p:sp>
        <p:nvSpPr>
          <p:cNvPr id="11" name="Text 8"/>
          <p:cNvSpPr/>
          <p:nvPr/>
        </p:nvSpPr>
        <p:spPr>
          <a:xfrm>
            <a:off x="9027160" y="3738880"/>
            <a:ext cx="242260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NOTE</a:t>
            </a:r>
            <a:endParaRPr lang="en-US" sz="1400" dirty="0"/>
          </a:p>
        </p:txBody>
      </p:sp>
      <p:sp>
        <p:nvSpPr>
          <p:cNvPr id="12" name="Text 9"/>
          <p:cNvSpPr/>
          <p:nvPr/>
        </p:nvSpPr>
        <p:spPr>
          <a:xfrm>
            <a:off x="9027160" y="4003041"/>
            <a:ext cx="2422601"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Largest gain per condition, chosen for illustration. The tables later are not cherry-picked.</a:t>
            </a:r>
            <a:endParaRPr lang="en-US" sz="1300" dirty="0"/>
          </a:p>
        </p:txBody>
      </p:sp>
      <p:sp>
        <p:nvSpPr>
          <p:cNvPr id="13" name="Text 10"/>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4" name="Text 11"/>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03 / PIPELINE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One image. A sequence of transformations.</a:t>
            </a:r>
            <a:endParaRPr lang="en-US" sz="3200" dirty="0"/>
          </a:p>
        </p:txBody>
      </p:sp>
      <p:sp>
        <p:nvSpPr>
          <p:cNvPr id="4" name="Shape 2"/>
          <p:cNvSpPr/>
          <p:nvPr/>
        </p:nvSpPr>
        <p:spPr>
          <a:xfrm>
            <a:off x="815975" y="1806575"/>
            <a:ext cx="1416050" cy="1248410"/>
          </a:xfrm>
          <a:prstGeom prst="roundRect">
            <a:avLst>
              <a:gd name="adj" fmla="val 7884"/>
            </a:avLst>
          </a:prstGeom>
          <a:solidFill>
            <a:srgbClr val="FBFAF6"/>
          </a:solidFill>
          <a:ln w="6350">
            <a:solidFill>
              <a:srgbClr val="E2DCD0"/>
            </a:solidFill>
            <a:prstDash val="solid"/>
          </a:ln>
        </p:spPr>
      </p:sp>
      <p:sp>
        <p:nvSpPr>
          <p:cNvPr id="5" name="Text 3"/>
          <p:cNvSpPr/>
          <p:nvPr/>
        </p:nvSpPr>
        <p:spPr>
          <a:xfrm>
            <a:off x="970280" y="1960880"/>
            <a:ext cx="1158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72E"/>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70280" y="2225041"/>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INPUT</a:t>
            </a:r>
            <a:endParaRPr lang="en-US" sz="1400" dirty="0"/>
          </a:p>
        </p:txBody>
      </p:sp>
      <p:sp>
        <p:nvSpPr>
          <p:cNvPr id="7" name="Text 5"/>
          <p:cNvSpPr/>
          <p:nvPr/>
        </p:nvSpPr>
        <p:spPr>
          <a:xfrm>
            <a:off x="970280" y="2489200"/>
            <a:ext cx="115824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Image pixels</a:t>
            </a:r>
            <a:endParaRPr lang="en-US" sz="1200" dirty="0"/>
          </a:p>
        </p:txBody>
      </p:sp>
      <p:sp>
        <p:nvSpPr>
          <p:cNvPr id="8" name="Shape 6"/>
          <p:cNvSpPr/>
          <p:nvPr/>
        </p:nvSpPr>
        <p:spPr>
          <a:xfrm>
            <a:off x="2339975" y="1806575"/>
            <a:ext cx="1416050" cy="1248410"/>
          </a:xfrm>
          <a:prstGeom prst="roundRect">
            <a:avLst>
              <a:gd name="adj" fmla="val 7884"/>
            </a:avLst>
          </a:prstGeom>
          <a:solidFill>
            <a:srgbClr val="FBFAF6"/>
          </a:solidFill>
          <a:ln w="6350">
            <a:solidFill>
              <a:srgbClr val="E2DCD0"/>
            </a:solidFill>
            <a:prstDash val="solid"/>
          </a:ln>
        </p:spPr>
      </p:sp>
      <p:sp>
        <p:nvSpPr>
          <p:cNvPr id="9" name="Text 7"/>
          <p:cNvSpPr/>
          <p:nvPr/>
        </p:nvSpPr>
        <p:spPr>
          <a:xfrm>
            <a:off x="2494280" y="1960880"/>
            <a:ext cx="1158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72E"/>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2494280" y="2225041"/>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ANALYZE</a:t>
            </a:r>
            <a:endParaRPr lang="en-US" sz="1400" dirty="0"/>
          </a:p>
        </p:txBody>
      </p:sp>
      <p:sp>
        <p:nvSpPr>
          <p:cNvPr id="11" name="Text 9"/>
          <p:cNvSpPr/>
          <p:nvPr/>
        </p:nvSpPr>
        <p:spPr>
          <a:xfrm>
            <a:off x="2494280" y="2489200"/>
            <a:ext cx="125857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Noise, blur, light</a:t>
            </a:r>
            <a:endParaRPr lang="en-US" sz="1200" dirty="0"/>
          </a:p>
        </p:txBody>
      </p:sp>
      <p:sp>
        <p:nvSpPr>
          <p:cNvPr id="12" name="Shape 10"/>
          <p:cNvSpPr/>
          <p:nvPr/>
        </p:nvSpPr>
        <p:spPr>
          <a:xfrm>
            <a:off x="3860800" y="1803400"/>
            <a:ext cx="1422400" cy="1254760"/>
          </a:xfrm>
          <a:prstGeom prst="roundRect">
            <a:avLst>
              <a:gd name="adj" fmla="val 8097"/>
            </a:avLst>
          </a:prstGeom>
          <a:solidFill>
            <a:srgbClr val="2D6CB5"/>
          </a:solidFill>
          <a:ln/>
        </p:spPr>
      </p:sp>
      <p:sp>
        <p:nvSpPr>
          <p:cNvPr id="13" name="Text 11"/>
          <p:cNvSpPr/>
          <p:nvPr/>
        </p:nvSpPr>
        <p:spPr>
          <a:xfrm>
            <a:off x="4013200" y="1955800"/>
            <a:ext cx="1168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JetBrains Mono" pitchFamily="49" charset="0"/>
                <a:ea typeface="JetBrains Mono" pitchFamily="49" charset="-122"/>
                <a:cs typeface="JetBrains Mono" pitchFamily="49" charset="-120"/>
              </a:rPr>
              <a:t>03 · NEW</a:t>
            </a:r>
            <a:endParaRPr lang="en-US" sz="1200" dirty="0"/>
          </a:p>
        </p:txBody>
      </p:sp>
      <p:sp>
        <p:nvSpPr>
          <p:cNvPr id="14" name="Text 12"/>
          <p:cNvSpPr/>
          <p:nvPr/>
        </p:nvSpPr>
        <p:spPr>
          <a:xfrm>
            <a:off x="4013200" y="2219961"/>
            <a:ext cx="11684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FAF6"/>
                </a:solidFill>
                <a:latin typeface="Space Grotesk" pitchFamily="34" charset="0"/>
                <a:ea typeface="Space Grotesk" pitchFamily="34" charset="-122"/>
                <a:cs typeface="Space Grotesk" pitchFamily="34" charset="-120"/>
              </a:rPr>
              <a:t>RESTORE</a:t>
            </a:r>
            <a:endParaRPr lang="en-US" sz="1400" dirty="0"/>
          </a:p>
        </p:txBody>
      </p:sp>
      <p:sp>
        <p:nvSpPr>
          <p:cNvPr id="15" name="Text 13"/>
          <p:cNvSpPr/>
          <p:nvPr/>
        </p:nvSpPr>
        <p:spPr>
          <a:xfrm>
            <a:off x="4013200" y="2484120"/>
            <a:ext cx="1168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3ECF6"/>
                </a:solidFill>
                <a:latin typeface="IBM Plex Sans" pitchFamily="34" charset="0"/>
                <a:ea typeface="IBM Plex Sans" pitchFamily="34" charset="-122"/>
                <a:cs typeface="IBM Plex Sans" pitchFamily="34" charset="-120"/>
              </a:rPr>
              <a:t>One gated fix</a:t>
            </a:r>
            <a:endParaRPr lang="en-US" sz="1200" dirty="0"/>
          </a:p>
        </p:txBody>
      </p:sp>
      <p:sp>
        <p:nvSpPr>
          <p:cNvPr id="16" name="Shape 14"/>
          <p:cNvSpPr/>
          <p:nvPr/>
        </p:nvSpPr>
        <p:spPr>
          <a:xfrm>
            <a:off x="5387975" y="1806575"/>
            <a:ext cx="1416050" cy="1248410"/>
          </a:xfrm>
          <a:prstGeom prst="roundRect">
            <a:avLst>
              <a:gd name="adj" fmla="val 7884"/>
            </a:avLst>
          </a:prstGeom>
          <a:solidFill>
            <a:srgbClr val="FBFAF6"/>
          </a:solidFill>
          <a:ln w="6350">
            <a:solidFill>
              <a:srgbClr val="E2DCD0"/>
            </a:solidFill>
            <a:prstDash val="solid"/>
          </a:ln>
        </p:spPr>
      </p:sp>
      <p:sp>
        <p:nvSpPr>
          <p:cNvPr id="17" name="Text 15"/>
          <p:cNvSpPr/>
          <p:nvPr/>
        </p:nvSpPr>
        <p:spPr>
          <a:xfrm>
            <a:off x="5542280" y="1960880"/>
            <a:ext cx="1158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472E"/>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5542280" y="2225041"/>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HOG</a:t>
            </a:r>
            <a:endParaRPr lang="en-US" sz="1400" dirty="0"/>
          </a:p>
        </p:txBody>
      </p:sp>
      <p:sp>
        <p:nvSpPr>
          <p:cNvPr id="19" name="Text 17"/>
          <p:cNvSpPr/>
          <p:nvPr/>
        </p:nvSpPr>
        <p:spPr>
          <a:xfrm>
            <a:off x="5542280" y="2489200"/>
            <a:ext cx="115824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Original features</a:t>
            </a:r>
            <a:endParaRPr lang="en-US" sz="1200" dirty="0"/>
          </a:p>
        </p:txBody>
      </p:sp>
      <p:sp>
        <p:nvSpPr>
          <p:cNvPr id="20" name="Shape 18"/>
          <p:cNvSpPr/>
          <p:nvPr/>
        </p:nvSpPr>
        <p:spPr>
          <a:xfrm>
            <a:off x="6908800" y="1803400"/>
            <a:ext cx="1422400" cy="1254760"/>
          </a:xfrm>
          <a:prstGeom prst="roundRect">
            <a:avLst>
              <a:gd name="adj" fmla="val 8097"/>
            </a:avLst>
          </a:prstGeom>
          <a:solidFill>
            <a:srgbClr val="2D6CB5"/>
          </a:solidFill>
          <a:ln/>
        </p:spPr>
      </p:sp>
      <p:sp>
        <p:nvSpPr>
          <p:cNvPr id="21" name="Text 19"/>
          <p:cNvSpPr/>
          <p:nvPr/>
        </p:nvSpPr>
        <p:spPr>
          <a:xfrm>
            <a:off x="7061200" y="1955800"/>
            <a:ext cx="1168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JetBrains Mono" pitchFamily="49" charset="0"/>
                <a:ea typeface="JetBrains Mono" pitchFamily="49" charset="-122"/>
                <a:cs typeface="JetBrains Mono" pitchFamily="49" charset="-120"/>
              </a:rPr>
              <a:t>05 · NEW</a:t>
            </a:r>
            <a:endParaRPr lang="en-US" sz="1200" dirty="0"/>
          </a:p>
        </p:txBody>
      </p:sp>
      <p:sp>
        <p:nvSpPr>
          <p:cNvPr id="22" name="Text 20"/>
          <p:cNvSpPr/>
          <p:nvPr/>
        </p:nvSpPr>
        <p:spPr>
          <a:xfrm>
            <a:off x="7061200" y="2219961"/>
            <a:ext cx="11684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FAF6"/>
                </a:solidFill>
                <a:latin typeface="Space Grotesk" pitchFamily="34" charset="0"/>
                <a:ea typeface="Space Grotesk" pitchFamily="34" charset="-122"/>
                <a:cs typeface="Space Grotesk" pitchFamily="34" charset="-120"/>
              </a:rPr>
              <a:t>FMP ×2</a:t>
            </a:r>
            <a:endParaRPr lang="en-US" sz="1400" dirty="0"/>
          </a:p>
        </p:txBody>
      </p:sp>
      <p:sp>
        <p:nvSpPr>
          <p:cNvPr id="23" name="Text 21"/>
          <p:cNvSpPr/>
          <p:nvPr/>
        </p:nvSpPr>
        <p:spPr>
          <a:xfrm>
            <a:off x="7061200" y="2484120"/>
            <a:ext cx="1168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3ECF6"/>
                </a:solidFill>
                <a:latin typeface="IBM Plex Sans" pitchFamily="34" charset="0"/>
                <a:ea typeface="IBM Plex Sans" pitchFamily="34" charset="-122"/>
                <a:cs typeface="IBM Plex Sans" pitchFamily="34" charset="-120"/>
              </a:rPr>
              <a:t>Image + mirror</a:t>
            </a:r>
            <a:endParaRPr lang="en-US" sz="1200" dirty="0"/>
          </a:p>
        </p:txBody>
      </p:sp>
      <p:sp>
        <p:nvSpPr>
          <p:cNvPr id="24" name="Shape 22"/>
          <p:cNvSpPr/>
          <p:nvPr/>
        </p:nvSpPr>
        <p:spPr>
          <a:xfrm>
            <a:off x="8432800" y="1803400"/>
            <a:ext cx="1422400" cy="1254760"/>
          </a:xfrm>
          <a:prstGeom prst="roundRect">
            <a:avLst>
              <a:gd name="adj" fmla="val 8097"/>
            </a:avLst>
          </a:prstGeom>
          <a:solidFill>
            <a:srgbClr val="2D6CB5"/>
          </a:solidFill>
          <a:ln/>
        </p:spPr>
      </p:sp>
      <p:sp>
        <p:nvSpPr>
          <p:cNvPr id="25" name="Text 23"/>
          <p:cNvSpPr/>
          <p:nvPr/>
        </p:nvSpPr>
        <p:spPr>
          <a:xfrm>
            <a:off x="8585200" y="1955800"/>
            <a:ext cx="1168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JetBrains Mono" pitchFamily="49" charset="0"/>
                <a:ea typeface="JetBrains Mono" pitchFamily="49" charset="-122"/>
                <a:cs typeface="JetBrains Mono" pitchFamily="49" charset="-120"/>
              </a:rPr>
              <a:t>06 · NEW</a:t>
            </a:r>
            <a:endParaRPr lang="en-US" sz="1200" dirty="0"/>
          </a:p>
        </p:txBody>
      </p:sp>
      <p:sp>
        <p:nvSpPr>
          <p:cNvPr id="26" name="Text 24"/>
          <p:cNvSpPr/>
          <p:nvPr/>
        </p:nvSpPr>
        <p:spPr>
          <a:xfrm>
            <a:off x="8585200" y="2219961"/>
            <a:ext cx="11684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FAF6"/>
                </a:solidFill>
                <a:latin typeface="Space Grotesk" pitchFamily="34" charset="0"/>
                <a:ea typeface="Space Grotesk" pitchFamily="34" charset="-122"/>
                <a:cs typeface="Space Grotesk" pitchFamily="34" charset="-120"/>
              </a:rPr>
              <a:t>VOTE</a:t>
            </a:r>
            <a:endParaRPr lang="en-US" sz="1400" dirty="0"/>
          </a:p>
        </p:txBody>
      </p:sp>
      <p:sp>
        <p:nvSpPr>
          <p:cNvPr id="27" name="Text 25"/>
          <p:cNvSpPr/>
          <p:nvPr/>
        </p:nvSpPr>
        <p:spPr>
          <a:xfrm>
            <a:off x="8585200" y="2484120"/>
            <a:ext cx="1168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3ECF6"/>
                </a:solidFill>
                <a:latin typeface="IBM Plex Sans" pitchFamily="34" charset="0"/>
                <a:ea typeface="IBM Plex Sans" pitchFamily="34" charset="-122"/>
                <a:cs typeface="IBM Plex Sans" pitchFamily="34" charset="-120"/>
              </a:rPr>
              <a:t>NMS + pose voting</a:t>
            </a:r>
            <a:endParaRPr lang="en-US" sz="1200" dirty="0"/>
          </a:p>
        </p:txBody>
      </p:sp>
      <p:sp>
        <p:nvSpPr>
          <p:cNvPr id="28" name="Shape 26"/>
          <p:cNvSpPr/>
          <p:nvPr/>
        </p:nvSpPr>
        <p:spPr>
          <a:xfrm>
            <a:off x="9956800" y="1803400"/>
            <a:ext cx="1422400" cy="1254760"/>
          </a:xfrm>
          <a:prstGeom prst="roundRect">
            <a:avLst>
              <a:gd name="adj" fmla="val 8097"/>
            </a:avLst>
          </a:prstGeom>
          <a:solidFill>
            <a:srgbClr val="2D6CB5"/>
          </a:solidFill>
          <a:ln/>
        </p:spPr>
      </p:sp>
      <p:sp>
        <p:nvSpPr>
          <p:cNvPr id="29" name="Text 27"/>
          <p:cNvSpPr/>
          <p:nvPr/>
        </p:nvSpPr>
        <p:spPr>
          <a:xfrm>
            <a:off x="10109200" y="1955800"/>
            <a:ext cx="1168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JetBrains Mono" pitchFamily="49" charset="0"/>
                <a:ea typeface="JetBrains Mono" pitchFamily="49" charset="-122"/>
                <a:cs typeface="JetBrains Mono" pitchFamily="49" charset="-120"/>
              </a:rPr>
              <a:t>07 · NEW</a:t>
            </a:r>
            <a:endParaRPr lang="en-US" sz="1200" dirty="0"/>
          </a:p>
        </p:txBody>
      </p:sp>
      <p:sp>
        <p:nvSpPr>
          <p:cNvPr id="30" name="Text 28"/>
          <p:cNvSpPr/>
          <p:nvPr/>
        </p:nvSpPr>
        <p:spPr>
          <a:xfrm>
            <a:off x="10109200" y="2219961"/>
            <a:ext cx="11684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FAF6"/>
                </a:solidFill>
                <a:latin typeface="Space Grotesk" pitchFamily="34" charset="0"/>
                <a:ea typeface="Space Grotesk" pitchFamily="34" charset="-122"/>
                <a:cs typeface="Space Grotesk" pitchFamily="34" charset="-120"/>
              </a:rPr>
              <a:t>REFINE</a:t>
            </a:r>
            <a:endParaRPr lang="en-US" sz="1400" dirty="0"/>
          </a:p>
        </p:txBody>
      </p:sp>
      <p:sp>
        <p:nvSpPr>
          <p:cNvPr id="31" name="Text 29"/>
          <p:cNvSpPr/>
          <p:nvPr/>
        </p:nvSpPr>
        <p:spPr>
          <a:xfrm>
            <a:off x="10109200" y="2484120"/>
            <a:ext cx="1168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3ECF6"/>
                </a:solidFill>
                <a:latin typeface="IBM Plex Sans" pitchFamily="34" charset="0"/>
                <a:ea typeface="IBM Plex Sans" pitchFamily="34" charset="-122"/>
                <a:cs typeface="IBM Plex Sans" pitchFamily="34" charset="-120"/>
              </a:rPr>
              <a:t>Anatomy check</a:t>
            </a:r>
            <a:endParaRPr lang="en-US" sz="1200" dirty="0"/>
          </a:p>
        </p:txBody>
      </p:sp>
      <p:sp>
        <p:nvSpPr>
          <p:cNvPr id="32" name="Shape 30"/>
          <p:cNvSpPr/>
          <p:nvPr/>
        </p:nvSpPr>
        <p:spPr>
          <a:xfrm>
            <a:off x="815975" y="3289936"/>
            <a:ext cx="10560050" cy="1223010"/>
          </a:xfrm>
          <a:prstGeom prst="roundRect">
            <a:avLst>
              <a:gd name="adj" fmla="val 8048"/>
            </a:avLst>
          </a:prstGeom>
          <a:solidFill>
            <a:srgbClr val="FBFAF6"/>
          </a:solidFill>
          <a:ln w="6350">
            <a:solidFill>
              <a:srgbClr val="E2DCD0"/>
            </a:solidFill>
            <a:prstDash val="solid"/>
          </a:ln>
        </p:spPr>
      </p:sp>
      <p:sp>
        <p:nvSpPr>
          <p:cNvPr id="33" name="Text 31"/>
          <p:cNvSpPr/>
          <p:nvPr/>
        </p:nvSpPr>
        <p:spPr>
          <a:xfrm>
            <a:off x="1021080" y="3495041"/>
            <a:ext cx="1193800" cy="2540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A66"/>
                </a:solidFill>
                <a:latin typeface="JetBrains Mono" pitchFamily="49" charset="0"/>
                <a:ea typeface="JetBrains Mono" pitchFamily="49" charset="-122"/>
                <a:cs typeface="JetBrains Mono" pitchFamily="49" charset="-120"/>
              </a:rPr>
              <a:t>BASELINE</a:t>
            </a:r>
            <a:endParaRPr lang="en-US" sz="1200" dirty="0"/>
          </a:p>
        </p:txBody>
      </p:sp>
      <p:sp>
        <p:nvSpPr>
          <p:cNvPr id="34" name="Text 32"/>
          <p:cNvSpPr/>
          <p:nvPr/>
        </p:nvSpPr>
        <p:spPr>
          <a:xfrm>
            <a:off x="2316480" y="3495041"/>
            <a:ext cx="4498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7212B"/>
                </a:solidFill>
                <a:latin typeface="JetBrains Mono" pitchFamily="49" charset="0"/>
                <a:ea typeface="JetBrains Mono" pitchFamily="49" charset="-122"/>
                <a:cs typeface="JetBrains Mono" pitchFamily="49" charset="-120"/>
              </a:rPr>
              <a:t>Image → HOG → Pretrained FMP → NMS → Pose</a:t>
            </a:r>
            <a:endParaRPr lang="en-US" sz="1200" dirty="0"/>
          </a:p>
        </p:txBody>
      </p:sp>
      <p:sp>
        <p:nvSpPr>
          <p:cNvPr id="35" name="Text 33"/>
          <p:cNvSpPr/>
          <p:nvPr/>
        </p:nvSpPr>
        <p:spPr>
          <a:xfrm>
            <a:off x="1021080" y="3850641"/>
            <a:ext cx="1193800" cy="4826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5"/>
                </a:solidFill>
                <a:latin typeface="JetBrains Mono" pitchFamily="49" charset="0"/>
                <a:ea typeface="JetBrains Mono" pitchFamily="49" charset="-122"/>
                <a:cs typeface="JetBrains Mono" pitchFamily="49" charset="-120"/>
              </a:rPr>
              <a:t>ENHANCED</a:t>
            </a:r>
            <a:endParaRPr lang="en-US" sz="1200" dirty="0"/>
          </a:p>
        </p:txBody>
      </p:sp>
      <p:sp>
        <p:nvSpPr>
          <p:cNvPr id="36" name="Text 34"/>
          <p:cNvSpPr/>
          <p:nvPr/>
        </p:nvSpPr>
        <p:spPr>
          <a:xfrm>
            <a:off x="2316480" y="3850641"/>
            <a:ext cx="912007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7212B"/>
                </a:solidFill>
                <a:latin typeface="JetBrains Mono" pitchFamily="49" charset="0"/>
                <a:ea typeface="JetBrains Mono" pitchFamily="49" charset="-122"/>
                <a:cs typeface="JetBrains Mono" pitchFamily="49" charset="-120"/>
              </a:rPr>
              <a:t>Image → Quality analysis → Gated restoration → HOG → Pretrained FMP (image + mirror) → NMS + pose voting → Anatomical refinement → Pose</a:t>
            </a:r>
            <a:endParaRPr lang="en-US" sz="1200" dirty="0"/>
          </a:p>
        </p:txBody>
      </p:sp>
      <p:sp>
        <p:nvSpPr>
          <p:cNvPr id="37" name="Text 35"/>
          <p:cNvSpPr/>
          <p:nvPr/>
        </p:nvSpPr>
        <p:spPr>
          <a:xfrm>
            <a:off x="812800" y="474472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IBM Plex Sans" pitchFamily="34" charset="0"/>
                <a:ea typeface="IBM Plex Sans" pitchFamily="34" charset="-122"/>
                <a:cs typeface="IBM Plex Sans" pitchFamily="34" charset="-120"/>
              </a:rPr>
              <a:t>The FMP model and HOG features are shared by both rows, so the comparison is fair. </a:t>
            </a:r>
            <a:r>
              <a:rPr lang="en-US" sz="1400" b="1" dirty="0">
                <a:solidFill>
                  <a:srgbClr val="17212B"/>
                </a:solidFill>
                <a:latin typeface="IBM Plex Sans" pitchFamily="34" charset="0"/>
                <a:ea typeface="IBM Plex Sans" pitchFamily="34" charset="-122"/>
                <a:cs typeface="IBM Plex Sans" pitchFamily="34" charset="-120"/>
              </a:rPr>
              <a:t>Novelty:</a:t>
            </a:r>
            <a:r>
              <a:rPr lang="en-US" sz="1400" dirty="0">
                <a:solidFill>
                  <a:srgbClr val="17212B"/>
                </a:solidFill>
                <a:latin typeface="IBM Plex Sans" pitchFamily="34" charset="0"/>
                <a:ea typeface="IBM Plex Sans" pitchFamily="34" charset="-122"/>
                <a:cs typeface="IBM Plex Sans" pitchFamily="34" charset="-120"/>
              </a:rPr>
              <a:t> an adaptive layer around classical FMP, not a replacement for it.</a:t>
            </a:r>
            <a:endParaRPr lang="en-US" sz="1400" dirty="0"/>
          </a:p>
        </p:txBody>
      </p:sp>
      <p:sp>
        <p:nvSpPr>
          <p:cNvPr id="38" name="Text 36"/>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39" name="Text 37"/>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04 / IMAGE QUALITY</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Adaptive preprocessing: only when needed</a:t>
            </a:r>
            <a:endParaRPr lang="en-US" sz="3200" dirty="0"/>
          </a:p>
        </p:txBody>
      </p:sp>
      <p:sp>
        <p:nvSpPr>
          <p:cNvPr id="4" name="Text 2"/>
          <p:cNvSpPr/>
          <p:nvPr/>
        </p:nvSpPr>
        <p:spPr>
          <a:xfrm>
            <a:off x="812800" y="18288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F5A66"/>
                </a:solidFill>
                <a:latin typeface="JetBrains Mono" pitchFamily="49" charset="0"/>
                <a:ea typeface="JetBrains Mono" pitchFamily="49" charset="-122"/>
                <a:cs typeface="JetBrains Mono" pitchFamily="49" charset="-120"/>
              </a:rPr>
              <a:t>THE IMAGE IS MEASURED FIRST</a:t>
            </a:r>
            <a:endParaRPr lang="en-US" sz="1200" dirty="0"/>
          </a:p>
        </p:txBody>
      </p:sp>
      <p:sp>
        <p:nvSpPr>
          <p:cNvPr id="5" name="Shape 3"/>
          <p:cNvSpPr/>
          <p:nvPr/>
        </p:nvSpPr>
        <p:spPr>
          <a:xfrm>
            <a:off x="825500" y="2169161"/>
            <a:ext cx="0" cy="480060"/>
          </a:xfrm>
          <a:prstGeom prst="line">
            <a:avLst/>
          </a:prstGeom>
          <a:noFill/>
          <a:ln w="25400">
            <a:solidFill>
              <a:srgbClr val="B4472E"/>
            </a:solidFill>
            <a:prstDash val="solid"/>
          </a:ln>
        </p:spPr>
      </p:sp>
      <p:sp>
        <p:nvSpPr>
          <p:cNvPr id="6" name="Text 4"/>
          <p:cNvSpPr/>
          <p:nvPr/>
        </p:nvSpPr>
        <p:spPr>
          <a:xfrm>
            <a:off x="965200" y="2194561"/>
            <a:ext cx="350570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212B"/>
                </a:solidFill>
                <a:latin typeface="Space Grotesk" pitchFamily="34" charset="0"/>
                <a:ea typeface="Space Grotesk" pitchFamily="34" charset="-122"/>
                <a:cs typeface="Space Grotesk" pitchFamily="34" charset="-120"/>
              </a:rPr>
              <a:t>BRIGHTNESS</a:t>
            </a:r>
            <a:endParaRPr lang="en-US" sz="1300" dirty="0"/>
          </a:p>
        </p:txBody>
      </p:sp>
      <p:sp>
        <p:nvSpPr>
          <p:cNvPr id="7" name="Text 5"/>
          <p:cNvSpPr/>
          <p:nvPr/>
        </p:nvSpPr>
        <p:spPr>
          <a:xfrm>
            <a:off x="965200" y="2418082"/>
            <a:ext cx="3505708"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Mean luminance</a:t>
            </a:r>
            <a:endParaRPr lang="en-US" sz="1200" dirty="0"/>
          </a:p>
        </p:txBody>
      </p:sp>
      <p:sp>
        <p:nvSpPr>
          <p:cNvPr id="8" name="Shape 6"/>
          <p:cNvSpPr/>
          <p:nvPr/>
        </p:nvSpPr>
        <p:spPr>
          <a:xfrm>
            <a:off x="825500" y="2776221"/>
            <a:ext cx="0" cy="480060"/>
          </a:xfrm>
          <a:prstGeom prst="line">
            <a:avLst/>
          </a:prstGeom>
          <a:noFill/>
          <a:ln w="25400">
            <a:solidFill>
              <a:srgbClr val="B4472E"/>
            </a:solidFill>
            <a:prstDash val="solid"/>
          </a:ln>
        </p:spPr>
      </p:sp>
      <p:sp>
        <p:nvSpPr>
          <p:cNvPr id="9" name="Text 7"/>
          <p:cNvSpPr/>
          <p:nvPr/>
        </p:nvSpPr>
        <p:spPr>
          <a:xfrm>
            <a:off x="965200" y="2801621"/>
            <a:ext cx="350570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212B"/>
                </a:solidFill>
                <a:latin typeface="Space Grotesk" pitchFamily="34" charset="0"/>
                <a:ea typeface="Space Grotesk" pitchFamily="34" charset="-122"/>
                <a:cs typeface="Space Grotesk" pitchFamily="34" charset="-120"/>
              </a:rPr>
              <a:t>CONTRAST</a:t>
            </a:r>
            <a:endParaRPr lang="en-US" sz="1300" dirty="0"/>
          </a:p>
        </p:txBody>
      </p:sp>
      <p:sp>
        <p:nvSpPr>
          <p:cNvPr id="10" name="Text 8"/>
          <p:cNvSpPr/>
          <p:nvPr/>
        </p:nvSpPr>
        <p:spPr>
          <a:xfrm>
            <a:off x="965200" y="3025139"/>
            <a:ext cx="3505708"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1st–99th percentile range</a:t>
            </a:r>
            <a:endParaRPr lang="en-US" sz="1200" dirty="0"/>
          </a:p>
        </p:txBody>
      </p:sp>
      <p:sp>
        <p:nvSpPr>
          <p:cNvPr id="11" name="Shape 9"/>
          <p:cNvSpPr/>
          <p:nvPr/>
        </p:nvSpPr>
        <p:spPr>
          <a:xfrm>
            <a:off x="825500" y="3383282"/>
            <a:ext cx="0" cy="685800"/>
          </a:xfrm>
          <a:prstGeom prst="line">
            <a:avLst/>
          </a:prstGeom>
          <a:noFill/>
          <a:ln w="25400">
            <a:solidFill>
              <a:srgbClr val="B4472E"/>
            </a:solidFill>
            <a:prstDash val="solid"/>
          </a:ln>
        </p:spPr>
      </p:sp>
      <p:sp>
        <p:nvSpPr>
          <p:cNvPr id="12" name="Text 10"/>
          <p:cNvSpPr/>
          <p:nvPr/>
        </p:nvSpPr>
        <p:spPr>
          <a:xfrm>
            <a:off x="965200" y="3408682"/>
            <a:ext cx="350570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212B"/>
                </a:solidFill>
                <a:latin typeface="Space Grotesk" pitchFamily="34" charset="0"/>
                <a:ea typeface="Space Grotesk" pitchFamily="34" charset="-122"/>
                <a:cs typeface="Space Grotesk" pitchFamily="34" charset="-120"/>
              </a:rPr>
              <a:t>NOISE</a:t>
            </a:r>
            <a:endParaRPr lang="en-US" sz="1300" dirty="0"/>
          </a:p>
        </p:txBody>
      </p:sp>
      <p:sp>
        <p:nvSpPr>
          <p:cNvPr id="13" name="Text 11"/>
          <p:cNvSpPr/>
          <p:nvPr/>
        </p:nvSpPr>
        <p:spPr>
          <a:xfrm>
            <a:off x="965200" y="3632200"/>
            <a:ext cx="350570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Immerkær σ: a mask that cancels image structure</a:t>
            </a:r>
            <a:endParaRPr lang="en-US" sz="1200" dirty="0"/>
          </a:p>
        </p:txBody>
      </p:sp>
      <p:sp>
        <p:nvSpPr>
          <p:cNvPr id="14" name="Shape 12"/>
          <p:cNvSpPr/>
          <p:nvPr/>
        </p:nvSpPr>
        <p:spPr>
          <a:xfrm>
            <a:off x="825500" y="4196082"/>
            <a:ext cx="0" cy="480060"/>
          </a:xfrm>
          <a:prstGeom prst="line">
            <a:avLst/>
          </a:prstGeom>
          <a:noFill/>
          <a:ln w="25400">
            <a:solidFill>
              <a:srgbClr val="B4472E"/>
            </a:solidFill>
            <a:prstDash val="solid"/>
          </a:ln>
        </p:spPr>
      </p:sp>
      <p:sp>
        <p:nvSpPr>
          <p:cNvPr id="15" name="Text 13"/>
          <p:cNvSpPr/>
          <p:nvPr/>
        </p:nvSpPr>
        <p:spPr>
          <a:xfrm>
            <a:off x="965200" y="4221482"/>
            <a:ext cx="3505708"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7212B"/>
                </a:solidFill>
                <a:latin typeface="Space Grotesk" pitchFamily="34" charset="0"/>
                <a:ea typeface="Space Grotesk" pitchFamily="34" charset="-122"/>
                <a:cs typeface="Space Grotesk" pitchFamily="34" charset="-120"/>
              </a:rPr>
              <a:t>SHARPNESS</a:t>
            </a:r>
            <a:endParaRPr lang="en-US" sz="1300" dirty="0"/>
          </a:p>
        </p:txBody>
      </p:sp>
      <p:sp>
        <p:nvSpPr>
          <p:cNvPr id="16" name="Text 14"/>
          <p:cNvSpPr/>
          <p:nvPr/>
        </p:nvSpPr>
        <p:spPr>
          <a:xfrm>
            <a:off x="965200" y="4445000"/>
            <a:ext cx="3505708"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Laplacian energy ÷ luminance variance</a:t>
            </a:r>
            <a:endParaRPr lang="en-US" sz="1200" dirty="0"/>
          </a:p>
        </p:txBody>
      </p:sp>
      <p:sp>
        <p:nvSpPr>
          <p:cNvPr id="17" name="Shape 15"/>
          <p:cNvSpPr/>
          <p:nvPr/>
        </p:nvSpPr>
        <p:spPr>
          <a:xfrm>
            <a:off x="4673600" y="1828800"/>
            <a:ext cx="6705600" cy="2209800"/>
          </a:xfrm>
          <a:prstGeom prst="roundRect">
            <a:avLst>
              <a:gd name="adj" fmla="val 4598"/>
            </a:avLst>
          </a:prstGeom>
          <a:solidFill>
            <a:srgbClr val="FBFAF6"/>
          </a:solidFill>
          <a:ln/>
        </p:spPr>
      </p:sp>
      <p:sp>
        <p:nvSpPr>
          <p:cNvPr id="18" name="Shape 16"/>
          <p:cNvSpPr/>
          <p:nvPr/>
        </p:nvSpPr>
        <p:spPr>
          <a:xfrm>
            <a:off x="4673600" y="1828800"/>
            <a:ext cx="6705600" cy="2209800"/>
          </a:xfrm>
          <a:custGeom>
            <a:avLst/>
            <a:gdLst/>
            <a:ahLst/>
            <a:cxnLst/>
            <a:rect l="l" t="t" r="r" b="b"/>
            <a:pathLst>
              <a:path w="6705600" h="2209800">
                <a:moveTo>
                  <a:pt x="6604000" y="0"/>
                </a:moveTo>
                <a:lnTo>
                  <a:pt x="6604000" y="0"/>
                </a:lnTo>
                <a:arcTo hR="101600" wR="101600" stAng="16200000" swAng="5400000"/>
                <a:lnTo>
                  <a:pt x="6705600" y="2108200"/>
                </a:lnTo>
                <a:arcTo hR="101600" wR="101600" stAng="0" swAng="5400000"/>
                <a:lnTo>
                  <a:pt x="101600" y="2209800"/>
                </a:lnTo>
                <a:arcTo hR="101600" wR="101600" stAng="5400000" swAng="5400000"/>
                <a:lnTo>
                  <a:pt x="0" y="2108200"/>
                </a:lnTo>
                <a:arcTo hR="95250" wR="101600" stAng="10800000" swAng="-5400000"/>
                <a:lnTo>
                  <a:pt x="6604000" y="2203450"/>
                </a:lnTo>
                <a:arcTo hR="95250" wR="95250" stAng="5400000" swAng="-5400000"/>
                <a:lnTo>
                  <a:pt x="6699250" y="101600"/>
                </a:lnTo>
                <a:arcTo hR="101600" wR="95250" stAng="0" swAng="-5400000"/>
                <a:close/>
              </a:path>
            </a:pathLst>
          </a:custGeom>
          <a:solidFill>
            <a:srgbClr val="E2DCD0"/>
          </a:solidFill>
          <a:ln/>
        </p:spPr>
      </p:sp>
      <p:sp>
        <p:nvSpPr>
          <p:cNvPr id="19" name="Shape 17"/>
          <p:cNvSpPr/>
          <p:nvPr/>
        </p:nvSpPr>
        <p:spPr>
          <a:xfrm>
            <a:off x="4673600" y="1828800"/>
            <a:ext cx="6705600" cy="2209800"/>
          </a:xfrm>
          <a:custGeom>
            <a:avLst/>
            <a:gdLst/>
            <a:ahLst/>
            <a:cxnLst/>
            <a:rect l="l" t="t" r="r" b="b"/>
            <a:pathLst>
              <a:path w="6705600" h="2209800">
                <a:moveTo>
                  <a:pt x="101600" y="2209800"/>
                </a:moveTo>
                <a:lnTo>
                  <a:pt x="101600" y="2209800"/>
                </a:lnTo>
                <a:arcTo hR="101600" wR="101600" stAng="5400000" swAng="5400000"/>
                <a:lnTo>
                  <a:pt x="0" y="101600"/>
                </a:lnTo>
                <a:arcTo hR="101600" wR="101600" stAng="10800000" swAng="5400000"/>
                <a:lnTo>
                  <a:pt x="6604000" y="0"/>
                </a:lnTo>
                <a:arcTo hR="101600" wR="101600" stAng="16200000" swAng="5400000"/>
                <a:lnTo>
                  <a:pt x="6705600" y="101600"/>
                </a:lnTo>
                <a:arcTo hR="91440" wR="101600" stAng="0" swAng="-5400000"/>
                <a:lnTo>
                  <a:pt x="101600" y="10160"/>
                </a:lnTo>
                <a:arcTo hR="91440" wR="91440" stAng="16200000" swAng="-5400000"/>
                <a:lnTo>
                  <a:pt x="10160" y="2108200"/>
                </a:lnTo>
                <a:arcTo hR="101600" wR="91440" stAng="10800000" swAng="-5400000"/>
                <a:close/>
              </a:path>
            </a:pathLst>
          </a:custGeom>
          <a:solidFill>
            <a:srgbClr val="141413">
              <a:alpha val="22000"/>
            </a:srgbClr>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683760" y="1838960"/>
          <a:ext cx="6690360" cy="2194560"/>
        </p:xfrm>
        <a:graphic>
          <a:graphicData uri="http://schemas.openxmlformats.org/drawingml/2006/table">
            <a:tbl>
              <a:tblPr/>
              <a:tblGrid>
                <a:gridCol w="1338072"/>
                <a:gridCol w="1672590"/>
                <a:gridCol w="2475433"/>
                <a:gridCol w="1204265"/>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Condition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61E26"/>
                      </a:solidFill>
                      <a:prstDash val="solid"/>
                      <a:round/>
                      <a:headEnd type="none" w="med" len="med"/>
                      <a:tailEnd type="none" w="med" len="med"/>
                    </a:lnR>
                    <a:lnT w="0" cap="flat" cmpd="sng" algn="ctr">
                      <a:noFill/>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Signal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0" cap="flat" cmpd="sng" algn="ctr">
                      <a:noFill/>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0" cap="flat" cmpd="sng" algn="ctr">
                      <a:noFill/>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0" cap="flat" cmpd="sng" algn="ctr">
                      <a:noFill/>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Noise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σ &gt; 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Non-local-means denoising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Implemented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Blur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sharpness &lt; 0.014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Richardson-Lucy deblurring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Implemented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Dark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brightness &lt; 0.40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Gamma correction (0.67)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Implemented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Low contrast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None: HOG already normalises contrast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By design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Otherwise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Image left unchanged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21" name="Text 18"/>
          <p:cNvSpPr/>
          <p:nvPr/>
        </p:nvSpPr>
        <p:spPr>
          <a:xfrm>
            <a:off x="4673600" y="4191000"/>
            <a:ext cx="6906768" cy="68834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7212B"/>
                </a:solidFill>
                <a:latin typeface="IBM Plex Sans" pitchFamily="34" charset="0"/>
                <a:ea typeface="IBM Plex Sans" pitchFamily="34" charset="-122"/>
                <a:cs typeface="IBM Plex Sans" pitchFamily="34" charset="-120"/>
              </a:rPr>
              <a:t>At most one operation per image</a:t>
            </a:r>
            <a:r>
              <a:rPr lang="en-US" sz="1200" dirty="0">
                <a:solidFill>
                  <a:srgbClr val="4F5A66"/>
                </a:solidFill>
                <a:latin typeface="IBM Plex Sans" pitchFamily="34" charset="0"/>
                <a:ea typeface="IBM Plex Sans" pitchFamily="34" charset="-122"/>
                <a:cs typeface="IBM Plex Sans" pitchFamily="34" charset="-120"/>
              </a:rPr>
              <a:t>, priority noise → blur → dark. Tested and rejected on the tuning images: CLAHE, bilateral, median, Wiener and Gaussian denoising, unsharp masking, contrast stretching, upsampling.</a:t>
            </a:r>
            <a:endParaRPr lang="en-US" sz="1200" dirty="0"/>
          </a:p>
        </p:txBody>
      </p:sp>
      <p:sp>
        <p:nvSpPr>
          <p:cNvPr id="22" name="Text 19"/>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23" name="Text 2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05 / FEATURES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HOG turns edges into a visual description</a:t>
            </a:r>
            <a:endParaRPr lang="en-US" sz="3200" dirty="0"/>
          </a:p>
        </p:txBody>
      </p:sp>
      <p:pic>
        <p:nvPicPr>
          <p:cNvPr id="4" name="Image 0" descr="Input photo of a tennis player from the PARSE test set">    </p:cNvPr>
          <p:cNvPicPr>
            <a:picLocks noChangeAspect="1"/>
          </p:cNvPicPr>
          <p:nvPr/>
        </p:nvPicPr>
        <p:blipFill>
          <a:blip r:embed="rId1"/>
          <a:srcRect l="-309" r="-309" t="0" b="0"/>
          <a:stretch/>
        </p:blipFill>
        <p:spPr>
          <a:xfrm>
            <a:off x="814864" y="1803400"/>
            <a:ext cx="1816100" cy="2667000"/>
          </a:xfrm>
          <a:prstGeom prst="rect">
            <a:avLst/>
          </a:prstGeom>
        </p:spPr>
      </p:pic>
      <p:sp>
        <p:nvSpPr>
          <p:cNvPr id="5" name="Text 2"/>
          <p:cNvSpPr/>
          <p:nvPr/>
        </p:nvSpPr>
        <p:spPr>
          <a:xfrm>
            <a:off x="1448594" y="4533900"/>
            <a:ext cx="54864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INPUT</a:t>
            </a:r>
            <a:endParaRPr lang="en-US" sz="1200" dirty="0"/>
          </a:p>
        </p:txBody>
      </p:sp>
      <p:pic>
        <p:nvPicPr>
          <p:cNvPr id="6" name="Image 1" descr="Gradient magnitude of the same photo: dark lines along the player’s outline">    </p:cNvPr>
          <p:cNvPicPr>
            <a:picLocks noChangeAspect="1"/>
          </p:cNvPicPr>
          <p:nvPr/>
        </p:nvPicPr>
        <p:blipFill>
          <a:blip r:embed="rId2"/>
          <a:srcRect l="-309" r="-309" t="0" b="0"/>
          <a:stretch/>
        </p:blipFill>
        <p:spPr>
          <a:xfrm>
            <a:off x="2762171" y="1803400"/>
            <a:ext cx="1816100" cy="2667000"/>
          </a:xfrm>
          <a:prstGeom prst="rect">
            <a:avLst/>
          </a:prstGeom>
        </p:spPr>
      </p:pic>
      <p:sp>
        <p:nvSpPr>
          <p:cNvPr id="7" name="Text 3"/>
          <p:cNvSpPr/>
          <p:nvPr/>
        </p:nvSpPr>
        <p:spPr>
          <a:xfrm>
            <a:off x="3176445" y="4533900"/>
            <a:ext cx="98755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GRADIENTS</a:t>
            </a:r>
            <a:endParaRPr lang="en-US" sz="1200" dirty="0"/>
          </a:p>
        </p:txBody>
      </p:sp>
      <p:pic>
        <p:nvPicPr>
          <p:cNvPr id="8" name="Image 2" descr="HOG orientation glyphs of the same photo, tracing the player’s body">    </p:cNvPr>
          <p:cNvPicPr>
            <a:picLocks noChangeAspect="1"/>
          </p:cNvPicPr>
          <p:nvPr/>
        </p:nvPicPr>
        <p:blipFill>
          <a:blip r:embed="rId3"/>
          <a:srcRect l="-1621" r="-1621" t="0" b="0"/>
          <a:stretch/>
        </p:blipFill>
        <p:spPr>
          <a:xfrm>
            <a:off x="4709557" y="1803400"/>
            <a:ext cx="1816100" cy="2667000"/>
          </a:xfrm>
          <a:prstGeom prst="rect">
            <a:avLst/>
          </a:prstGeom>
        </p:spPr>
      </p:pic>
      <p:sp>
        <p:nvSpPr>
          <p:cNvPr id="9" name="Text 4"/>
          <p:cNvSpPr/>
          <p:nvPr/>
        </p:nvSpPr>
        <p:spPr>
          <a:xfrm>
            <a:off x="5453015" y="4533900"/>
            <a:ext cx="32918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HOG</a:t>
            </a:r>
            <a:endParaRPr lang="en-US" sz="1200" dirty="0"/>
          </a:p>
        </p:txBody>
      </p:sp>
      <p:sp>
        <p:nvSpPr>
          <p:cNvPr id="10" name="Shape 5"/>
          <p:cNvSpPr/>
          <p:nvPr/>
        </p:nvSpPr>
        <p:spPr>
          <a:xfrm>
            <a:off x="6835775" y="1806575"/>
            <a:ext cx="4540250" cy="999490"/>
          </a:xfrm>
          <a:prstGeom prst="roundRect">
            <a:avLst>
              <a:gd name="adj" fmla="val 9848"/>
            </a:avLst>
          </a:prstGeom>
          <a:solidFill>
            <a:srgbClr val="FBFAF6"/>
          </a:solidFill>
          <a:ln w="6350">
            <a:solidFill>
              <a:srgbClr val="E2DCD0"/>
            </a:solidFill>
            <a:prstDash val="solid"/>
          </a:ln>
        </p:spPr>
      </p:sp>
      <p:sp>
        <p:nvSpPr>
          <p:cNvPr id="11" name="Text 6"/>
          <p:cNvSpPr/>
          <p:nvPr/>
        </p:nvSpPr>
        <p:spPr>
          <a:xfrm>
            <a:off x="7015480" y="1960882"/>
            <a:ext cx="43062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WHAT HOG MEASURES</a:t>
            </a:r>
            <a:endParaRPr lang="en-US" sz="1400" dirty="0"/>
          </a:p>
        </p:txBody>
      </p:sp>
      <p:sp>
        <p:nvSpPr>
          <p:cNvPr id="12" name="Text 7"/>
          <p:cNvSpPr/>
          <p:nvPr/>
        </p:nvSpPr>
        <p:spPr>
          <a:xfrm>
            <a:off x="7015480" y="2225039"/>
            <a:ext cx="43062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Edge directions per 4 × 4-pixel cell, normalised per block, so global contrast changes cancel out.</a:t>
            </a:r>
            <a:endParaRPr lang="en-US" sz="1200" dirty="0"/>
          </a:p>
        </p:txBody>
      </p:sp>
      <p:sp>
        <p:nvSpPr>
          <p:cNvPr id="13" name="Shape 8"/>
          <p:cNvSpPr/>
          <p:nvPr/>
        </p:nvSpPr>
        <p:spPr>
          <a:xfrm>
            <a:off x="6835775" y="2914014"/>
            <a:ext cx="4540250" cy="999490"/>
          </a:xfrm>
          <a:prstGeom prst="roundRect">
            <a:avLst>
              <a:gd name="adj" fmla="val 9848"/>
            </a:avLst>
          </a:prstGeom>
          <a:solidFill>
            <a:srgbClr val="FBFAF6"/>
          </a:solidFill>
          <a:ln w="6350">
            <a:solidFill>
              <a:srgbClr val="E2DCD0"/>
            </a:solidFill>
            <a:prstDash val="solid"/>
          </a:ln>
        </p:spPr>
      </p:sp>
      <p:sp>
        <p:nvSpPr>
          <p:cNvPr id="14" name="Text 9"/>
          <p:cNvSpPr/>
          <p:nvPr/>
        </p:nvSpPr>
        <p:spPr>
          <a:xfrm>
            <a:off x="7015480" y="3068321"/>
            <a:ext cx="43062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WHY RESTORATION MATTERS</a:t>
            </a:r>
            <a:endParaRPr lang="en-US" sz="1400" dirty="0"/>
          </a:p>
        </p:txBody>
      </p:sp>
      <p:sp>
        <p:nvSpPr>
          <p:cNvPr id="15" name="Text 10"/>
          <p:cNvSpPr/>
          <p:nvPr/>
        </p:nvSpPr>
        <p:spPr>
          <a:xfrm>
            <a:off x="7015480" y="3332482"/>
            <a:ext cx="43062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Noise adds random gradients and blur flattens real ones. Both scramble what FMP matches.</a:t>
            </a:r>
            <a:endParaRPr lang="en-US" sz="1200" dirty="0"/>
          </a:p>
        </p:txBody>
      </p:sp>
      <p:sp>
        <p:nvSpPr>
          <p:cNvPr id="16" name="Shape 11"/>
          <p:cNvSpPr/>
          <p:nvPr/>
        </p:nvSpPr>
        <p:spPr>
          <a:xfrm>
            <a:off x="6835775" y="4021457"/>
            <a:ext cx="4540250" cy="999490"/>
          </a:xfrm>
          <a:prstGeom prst="roundRect">
            <a:avLst>
              <a:gd name="adj" fmla="val 9848"/>
            </a:avLst>
          </a:prstGeom>
          <a:solidFill>
            <a:srgbClr val="FBFAF6"/>
          </a:solidFill>
          <a:ln w="6350">
            <a:solidFill>
              <a:srgbClr val="E2DCD0"/>
            </a:solidFill>
            <a:prstDash val="solid"/>
          </a:ln>
        </p:spPr>
      </p:sp>
      <p:sp>
        <p:nvSpPr>
          <p:cNvPr id="17" name="Text 12"/>
          <p:cNvSpPr/>
          <p:nvPr/>
        </p:nvSpPr>
        <p:spPr>
          <a:xfrm>
            <a:off x="7015480" y="4175761"/>
            <a:ext cx="43062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ADAPTIVE HOG: TESTED</a:t>
            </a:r>
            <a:endParaRPr lang="en-US" sz="1400" dirty="0"/>
          </a:p>
        </p:txBody>
      </p:sp>
      <p:sp>
        <p:nvSpPr>
          <p:cNvPr id="18" name="Text 13"/>
          <p:cNvSpPr/>
          <p:nvPr/>
        </p:nvSpPr>
        <p:spPr>
          <a:xfrm>
            <a:off x="7015480" y="4439921"/>
            <a:ext cx="43062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Weighted HOG: ±0.1 PCK. Denser scale pyramid: +0.1 PCK, −0.4 APK. Changing cells or bins needs retraining.</a:t>
            </a:r>
            <a:endParaRPr lang="en-US" sz="1200" dirty="0"/>
          </a:p>
        </p:txBody>
      </p:sp>
      <p:sp>
        <p:nvSpPr>
          <p:cNvPr id="19" name="Text 14"/>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20" name="Text 15"/>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06 / POSE MODEL</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FMP links parts into a body layout</a:t>
            </a:r>
            <a:endParaRPr lang="en-US" sz="3200" dirty="0"/>
          </a:p>
        </p:txBody>
      </p:sp>
      <p:pic>
        <p:nvPicPr>
          <p:cNvPr id="4" name="Image 0" descr="Skeleton of 14 connected joints predicted on a tennis player from the PARSE test set">    </p:cNvPr>
          <p:cNvPicPr>
            <a:picLocks noChangeAspect="1"/>
          </p:cNvPicPr>
          <p:nvPr/>
        </p:nvPicPr>
        <p:blipFill>
          <a:blip r:embed="rId1"/>
          <a:srcRect l="-26465" r="-26465" t="0" b="0"/>
          <a:stretch/>
        </p:blipFill>
        <p:spPr>
          <a:xfrm>
            <a:off x="812800" y="1803400"/>
            <a:ext cx="3556000" cy="3429000"/>
          </a:xfrm>
          <a:prstGeom prst="rect">
            <a:avLst/>
          </a:prstGeom>
        </p:spPr>
      </p:pic>
      <p:sp>
        <p:nvSpPr>
          <p:cNvPr id="5" name="Text 2"/>
          <p:cNvSpPr/>
          <p:nvPr/>
        </p:nvSpPr>
        <p:spPr>
          <a:xfrm>
            <a:off x="4775200" y="1803400"/>
            <a:ext cx="68021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F5A66"/>
                </a:solidFill>
                <a:latin typeface="JetBrains Mono" pitchFamily="49" charset="0"/>
                <a:ea typeface="JetBrains Mono" pitchFamily="49" charset="-122"/>
                <a:cs typeface="JetBrains Mono" pitchFamily="49" charset="-120"/>
              </a:rPr>
              <a:t>FLEXIBLE MIXTURES OF PARTS (FMP)</a:t>
            </a:r>
            <a:endParaRPr lang="en-US" sz="1200" dirty="0"/>
          </a:p>
        </p:txBody>
      </p:sp>
      <p:sp>
        <p:nvSpPr>
          <p:cNvPr id="6" name="Text 3"/>
          <p:cNvSpPr/>
          <p:nvPr/>
        </p:nvSpPr>
        <p:spPr>
          <a:xfrm>
            <a:off x="4775200" y="2156461"/>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72E"/>
                </a:solidFill>
                <a:latin typeface="Space Grotesk" pitchFamily="34" charset="0"/>
                <a:ea typeface="Space Grotesk" pitchFamily="34" charset="-122"/>
                <a:cs typeface="Space Grotesk" pitchFamily="34" charset="-120"/>
              </a:rPr>
              <a:t>1</a:t>
            </a:r>
            <a:endParaRPr lang="en-US" sz="1400" dirty="0"/>
          </a:p>
        </p:txBody>
      </p:sp>
      <p:sp>
        <p:nvSpPr>
          <p:cNvPr id="7" name="Text 4"/>
          <p:cNvSpPr/>
          <p:nvPr/>
        </p:nvSpPr>
        <p:spPr>
          <a:xfrm>
            <a:off x="5181600" y="2156461"/>
            <a:ext cx="31281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PART APPEARANCE</a:t>
            </a:r>
            <a:endParaRPr lang="en-US" sz="1400" dirty="0"/>
          </a:p>
        </p:txBody>
      </p:sp>
      <p:sp>
        <p:nvSpPr>
          <p:cNvPr id="8" name="Text 5"/>
          <p:cNvSpPr/>
          <p:nvPr/>
        </p:nvSpPr>
        <p:spPr>
          <a:xfrm>
            <a:off x="5181600" y="2395221"/>
            <a:ext cx="364445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Does this region look like a head, arm or leg?</a:t>
            </a:r>
            <a:endParaRPr lang="en-US" sz="1200" dirty="0"/>
          </a:p>
        </p:txBody>
      </p:sp>
      <p:sp>
        <p:nvSpPr>
          <p:cNvPr id="9" name="Text 6"/>
          <p:cNvSpPr/>
          <p:nvPr/>
        </p:nvSpPr>
        <p:spPr>
          <a:xfrm>
            <a:off x="4775200" y="2740661"/>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72E"/>
                </a:solidFill>
                <a:latin typeface="Space Grotesk" pitchFamily="34" charset="0"/>
                <a:ea typeface="Space Grotesk" pitchFamily="34" charset="-122"/>
                <a:cs typeface="Space Grotesk" pitchFamily="34" charset="-120"/>
              </a:rPr>
              <a:t>2</a:t>
            </a:r>
            <a:endParaRPr lang="en-US" sz="1400" dirty="0"/>
          </a:p>
        </p:txBody>
      </p:sp>
      <p:sp>
        <p:nvSpPr>
          <p:cNvPr id="10" name="Text 7"/>
          <p:cNvSpPr/>
          <p:nvPr/>
        </p:nvSpPr>
        <p:spPr>
          <a:xfrm>
            <a:off x="5181600" y="2740661"/>
            <a:ext cx="309046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SPATIAL LINKS</a:t>
            </a:r>
            <a:endParaRPr lang="en-US" sz="1400" dirty="0"/>
          </a:p>
        </p:txBody>
      </p:sp>
      <p:sp>
        <p:nvSpPr>
          <p:cNvPr id="11" name="Text 8"/>
          <p:cNvSpPr/>
          <p:nvPr/>
        </p:nvSpPr>
        <p:spPr>
          <a:xfrm>
            <a:off x="5181600" y="2979421"/>
            <a:ext cx="360054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Do connected parts form a plausible layout?</a:t>
            </a:r>
            <a:endParaRPr lang="en-US" sz="1200" dirty="0"/>
          </a:p>
        </p:txBody>
      </p:sp>
      <p:sp>
        <p:nvSpPr>
          <p:cNvPr id="12" name="Text 9"/>
          <p:cNvSpPr/>
          <p:nvPr/>
        </p:nvSpPr>
        <p:spPr>
          <a:xfrm>
            <a:off x="4775200" y="3324861"/>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72E"/>
                </a:solidFill>
                <a:latin typeface="Space Grotesk" pitchFamily="34" charset="0"/>
                <a:ea typeface="Space Grotesk" pitchFamily="34" charset="-122"/>
                <a:cs typeface="Space Grotesk" pitchFamily="34" charset="-120"/>
              </a:rPr>
              <a:t>3</a:t>
            </a:r>
            <a:endParaRPr lang="en-US" sz="1400" dirty="0"/>
          </a:p>
        </p:txBody>
      </p:sp>
      <p:sp>
        <p:nvSpPr>
          <p:cNvPr id="13" name="Text 10"/>
          <p:cNvSpPr/>
          <p:nvPr/>
        </p:nvSpPr>
        <p:spPr>
          <a:xfrm>
            <a:off x="5181600" y="3324861"/>
            <a:ext cx="422418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POSE SCORE</a:t>
            </a:r>
            <a:endParaRPr lang="en-US" sz="1400" dirty="0"/>
          </a:p>
        </p:txBody>
      </p:sp>
      <p:sp>
        <p:nvSpPr>
          <p:cNvPr id="14" name="Text 11"/>
          <p:cNvSpPr/>
          <p:nvPr/>
        </p:nvSpPr>
        <p:spPr>
          <a:xfrm>
            <a:off x="5181600" y="3563621"/>
            <a:ext cx="492137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Dynamic programming combines both over the 26-part tree.</a:t>
            </a:r>
            <a:endParaRPr lang="en-US" sz="1200" dirty="0"/>
          </a:p>
        </p:txBody>
      </p:sp>
      <p:sp>
        <p:nvSpPr>
          <p:cNvPr id="15" name="Text 12"/>
          <p:cNvSpPr/>
          <p:nvPr/>
        </p:nvSpPr>
        <p:spPr>
          <a:xfrm>
            <a:off x="4775200" y="3909061"/>
            <a:ext cx="30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6CB5"/>
                </a:solidFill>
                <a:latin typeface="Space Grotesk" pitchFamily="34" charset="0"/>
                <a:ea typeface="Space Grotesk" pitchFamily="34" charset="-122"/>
                <a:cs typeface="Space Grotesk" pitchFamily="34" charset="-120"/>
              </a:rPr>
              <a:t>4</a:t>
            </a:r>
            <a:endParaRPr lang="en-US" sz="1400" dirty="0"/>
          </a:p>
        </p:txBody>
      </p:sp>
      <p:sp>
        <p:nvSpPr>
          <p:cNvPr id="16" name="Text 13"/>
          <p:cNvSpPr/>
          <p:nvPr/>
        </p:nvSpPr>
        <p:spPr>
          <a:xfrm>
            <a:off x="5181600" y="3909061"/>
            <a:ext cx="638352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5"/>
                </a:solidFill>
                <a:latin typeface="Space Grotesk" pitchFamily="34" charset="0"/>
                <a:ea typeface="Space Grotesk" pitchFamily="34" charset="-122"/>
                <a:cs typeface="Space Grotesk" pitchFamily="34" charset="-120"/>
              </a:rPr>
              <a:t>FLIP TTA (NEW)</a:t>
            </a:r>
            <a:endParaRPr lang="en-US" sz="1400" dirty="0"/>
          </a:p>
        </p:txBody>
      </p:sp>
      <p:sp>
        <p:nvSpPr>
          <p:cNvPr id="17" name="Text 14"/>
          <p:cNvSpPr/>
          <p:nvPr/>
        </p:nvSpPr>
        <p:spPr>
          <a:xfrm>
            <a:off x="5181600" y="4147821"/>
            <a:ext cx="638352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F5A66"/>
                </a:solidFill>
                <a:latin typeface="IBM Plex Sans" pitchFamily="34" charset="0"/>
                <a:ea typeface="IBM Plex Sans" pitchFamily="34" charset="-122"/>
                <a:cs typeface="IBM Plex Sans" pitchFamily="34" charset="-120"/>
              </a:rPr>
              <a:t>The same model also runs on the mirrored image; its parts are mapped back with left and right swapped.</a:t>
            </a:r>
            <a:endParaRPr lang="en-US" sz="1200" dirty="0"/>
          </a:p>
        </p:txBody>
      </p:sp>
      <p:sp>
        <p:nvSpPr>
          <p:cNvPr id="18" name="Shape 15"/>
          <p:cNvSpPr/>
          <p:nvPr/>
        </p:nvSpPr>
        <p:spPr>
          <a:xfrm>
            <a:off x="4775200" y="4702175"/>
            <a:ext cx="6604000" cy="0"/>
          </a:xfrm>
          <a:prstGeom prst="line">
            <a:avLst/>
          </a:prstGeom>
          <a:noFill/>
          <a:ln w="6350">
            <a:solidFill>
              <a:srgbClr val="E2DCD0"/>
            </a:solidFill>
            <a:prstDash val="solid"/>
          </a:ln>
        </p:spPr>
      </p:sp>
      <p:sp>
        <p:nvSpPr>
          <p:cNvPr id="19" name="Text 16"/>
          <p:cNvSpPr/>
          <p:nvPr/>
        </p:nvSpPr>
        <p:spPr>
          <a:xfrm>
            <a:off x="4775200" y="4831080"/>
            <a:ext cx="680212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HOG says what a part looks like. FMP says how the parts fit together. Base paper: Yang &amp; Ramanan, CVPR 2011.</a:t>
            </a:r>
            <a:endParaRPr lang="en-US" sz="1300" dirty="0"/>
          </a:p>
        </p:txBody>
      </p:sp>
      <p:sp>
        <p:nvSpPr>
          <p:cNvPr id="20" name="Text 17"/>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21" name="Text 1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07 / DETECTION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NMS cleans up overlapping detections</a:t>
            </a:r>
            <a:endParaRPr lang="en-US" sz="3200" dirty="0"/>
          </a:p>
        </p:txBody>
      </p:sp>
      <p:pic>
        <p:nvPicPr>
          <p:cNvPr id="4" name="Image 0" descr="Input photo of a tennis player">    </p:cNvPr>
          <p:cNvPicPr>
            <a:picLocks noChangeAspect="1"/>
          </p:cNvPicPr>
          <p:nvPr/>
        </p:nvPicPr>
        <p:blipFill>
          <a:blip r:embed="rId1"/>
          <a:srcRect l="-2825" r="-2825" t="0" b="0"/>
          <a:stretch/>
        </p:blipFill>
        <p:spPr>
          <a:xfrm>
            <a:off x="814864" y="1778000"/>
            <a:ext cx="1816100" cy="2540000"/>
          </a:xfrm>
          <a:prstGeom prst="rect">
            <a:avLst/>
          </a:prstGeom>
        </p:spPr>
      </p:pic>
      <p:sp>
        <p:nvSpPr>
          <p:cNvPr id="5" name="Text 2"/>
          <p:cNvSpPr/>
          <p:nvPr/>
        </p:nvSpPr>
        <p:spPr>
          <a:xfrm>
            <a:off x="1448594" y="4381500"/>
            <a:ext cx="54864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INPUT</a:t>
            </a:r>
            <a:endParaRPr lang="en-US" sz="1200" dirty="0"/>
          </a:p>
        </p:txBody>
      </p:sp>
      <p:pic>
        <p:nvPicPr>
          <p:cNvPr id="6" name="Image 1" descr="Six overlapping coral candidate boxes from FMP around the player">    </p:cNvPr>
          <p:cNvPicPr>
            <a:picLocks noChangeAspect="1"/>
          </p:cNvPicPr>
          <p:nvPr/>
        </p:nvPicPr>
        <p:blipFill>
          <a:blip r:embed="rId2"/>
          <a:srcRect l="-2720" r="-2720" t="0" b="0"/>
          <a:stretch/>
        </p:blipFill>
        <p:spPr>
          <a:xfrm>
            <a:off x="2762171" y="1778000"/>
            <a:ext cx="1816100" cy="2540000"/>
          </a:xfrm>
          <a:prstGeom prst="rect">
            <a:avLst/>
          </a:prstGeom>
        </p:spPr>
      </p:pic>
      <p:sp>
        <p:nvSpPr>
          <p:cNvPr id="7" name="Text 3"/>
          <p:cNvSpPr/>
          <p:nvPr/>
        </p:nvSpPr>
        <p:spPr>
          <a:xfrm>
            <a:off x="3121581" y="4381500"/>
            <a:ext cx="10972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CANDIDATES</a:t>
            </a:r>
            <a:endParaRPr lang="en-US" sz="1200" dirty="0"/>
          </a:p>
        </p:txBody>
      </p:sp>
      <p:pic>
        <p:nvPicPr>
          <p:cNvPr id="8" name="Image 2" descr="The single blue box kept around the player">    </p:cNvPr>
          <p:cNvPicPr>
            <a:picLocks noChangeAspect="1"/>
          </p:cNvPicPr>
          <p:nvPr/>
        </p:nvPicPr>
        <p:blipFill>
          <a:blip r:embed="rId3"/>
          <a:srcRect l="-2720" r="-2720" t="0" b="0"/>
          <a:stretch/>
        </p:blipFill>
        <p:spPr>
          <a:xfrm>
            <a:off x="4709557" y="1778000"/>
            <a:ext cx="1816100" cy="2540000"/>
          </a:xfrm>
          <a:prstGeom prst="rect">
            <a:avLst/>
          </a:prstGeom>
        </p:spPr>
      </p:pic>
      <p:sp>
        <p:nvSpPr>
          <p:cNvPr id="9" name="Text 4"/>
          <p:cNvSpPr/>
          <p:nvPr/>
        </p:nvSpPr>
        <p:spPr>
          <a:xfrm>
            <a:off x="5398151" y="4381500"/>
            <a:ext cx="4389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KEPT</a:t>
            </a:r>
            <a:endParaRPr lang="en-US" sz="1200" dirty="0"/>
          </a:p>
        </p:txBody>
      </p:sp>
      <p:sp>
        <p:nvSpPr>
          <p:cNvPr id="10" name="Shape 5"/>
          <p:cNvSpPr/>
          <p:nvPr/>
        </p:nvSpPr>
        <p:spPr>
          <a:xfrm>
            <a:off x="6835775" y="1781175"/>
            <a:ext cx="4540250" cy="1062990"/>
          </a:xfrm>
          <a:prstGeom prst="roundRect">
            <a:avLst>
              <a:gd name="adj" fmla="val 9259"/>
            </a:avLst>
          </a:prstGeom>
          <a:solidFill>
            <a:srgbClr val="FBFAF6"/>
          </a:solidFill>
          <a:ln w="6350">
            <a:solidFill>
              <a:srgbClr val="E2DCD0"/>
            </a:solidFill>
            <a:prstDash val="solid"/>
          </a:ln>
        </p:spPr>
      </p:sp>
      <p:sp>
        <p:nvSpPr>
          <p:cNvPr id="11" name="Text 6"/>
          <p:cNvSpPr/>
          <p:nvPr/>
        </p:nvSpPr>
        <p:spPr>
          <a:xfrm>
            <a:off x="7015480" y="1960882"/>
            <a:ext cx="43062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WHAT NMS DOES</a:t>
            </a:r>
            <a:endParaRPr lang="en-US" sz="1400" dirty="0"/>
          </a:p>
        </p:txBody>
      </p:sp>
      <p:sp>
        <p:nvSpPr>
          <p:cNvPr id="12" name="Text 7"/>
          <p:cNvSpPr/>
          <p:nvPr/>
        </p:nvSpPr>
        <p:spPr>
          <a:xfrm>
            <a:off x="7015480" y="2237739"/>
            <a:ext cx="43062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Keeps the best detection and removes overlapping duplicates. On its own it does not improve joint coordinates.</a:t>
            </a:r>
            <a:endParaRPr lang="en-US" sz="1200" dirty="0"/>
          </a:p>
        </p:txBody>
      </p:sp>
      <p:sp>
        <p:nvSpPr>
          <p:cNvPr id="13" name="Shape 8"/>
          <p:cNvSpPr/>
          <p:nvPr/>
        </p:nvSpPr>
        <p:spPr>
          <a:xfrm>
            <a:off x="6835775" y="2977514"/>
            <a:ext cx="4540250" cy="1276350"/>
          </a:xfrm>
          <a:prstGeom prst="roundRect">
            <a:avLst>
              <a:gd name="adj" fmla="val 7711"/>
            </a:avLst>
          </a:prstGeom>
          <a:solidFill>
            <a:srgbClr val="E3ECF6"/>
          </a:solidFill>
          <a:ln w="6350">
            <a:solidFill>
              <a:srgbClr val="BCD0E8"/>
            </a:solidFill>
            <a:prstDash val="solid"/>
          </a:ln>
        </p:spPr>
      </p:sp>
      <p:sp>
        <p:nvSpPr>
          <p:cNvPr id="14" name="Text 9"/>
          <p:cNvSpPr/>
          <p:nvPr/>
        </p:nvSpPr>
        <p:spPr>
          <a:xfrm>
            <a:off x="7015480" y="3157221"/>
            <a:ext cx="43062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F87"/>
                </a:solidFill>
                <a:latin typeface="Space Grotesk" pitchFamily="34" charset="0"/>
                <a:ea typeface="Space Grotesk" pitchFamily="34" charset="-122"/>
                <a:cs typeface="Space Grotesk" pitchFamily="34" charset="-120"/>
              </a:rPr>
              <a:t>NEW: PART-CONSISTENT VOTING</a:t>
            </a:r>
            <a:endParaRPr lang="en-US" sz="1400" dirty="0"/>
          </a:p>
        </p:txBody>
      </p:sp>
      <p:sp>
        <p:nvSpPr>
          <p:cNvPr id="15" name="Text 10"/>
          <p:cNvSpPr/>
          <p:nvPr/>
        </p:nvSpPr>
        <p:spPr>
          <a:xfrm>
            <a:off x="7015480" y="3434082"/>
            <a:ext cx="43062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Each joint becomes the score-weighted mean of near-duplicates, but only those that agree on that joint (within 0.25 × body size).</a:t>
            </a:r>
            <a:endParaRPr lang="en-US" sz="1200" dirty="0"/>
          </a:p>
        </p:txBody>
      </p:sp>
      <p:sp>
        <p:nvSpPr>
          <p:cNvPr id="16" name="Text 11"/>
          <p:cNvSpPr/>
          <p:nvPr/>
        </p:nvSpPr>
        <p:spPr>
          <a:xfrm>
            <a:off x="812800" y="4798064"/>
            <a:ext cx="10566400" cy="391160"/>
          </a:xfrm>
          <a:prstGeom prst="roundRect">
            <a:avLst>
              <a:gd name="adj" fmla="val 19481"/>
            </a:avLst>
          </a:prstGeom>
          <a:solidFill>
            <a:srgbClr val="ECE7DE"/>
          </a:solidFill>
          <a:ln/>
        </p:spPr>
        <p:txBody>
          <a:bodyPr wrap="square" lIns="130082" tIns="66582" rIns="0" bIns="41182" rtlCol="0" anchor="t">
            <a:normAutofit/>
          </a:bodyPr>
          <a:lstStyle/>
          <a:p>
            <a:pPr algn="l" indent="0" marL="0">
              <a:lnSpc>
                <a:spcPts val="1680"/>
              </a:lnSpc>
              <a:buNone/>
            </a:pPr>
            <a:r>
              <a:rPr lang="en-US" sz="1200" dirty="0">
                <a:solidFill>
                  <a:srgbClr val="17212B"/>
                </a:solidFill>
                <a:latin typeface="JetBrains Mono" pitchFamily="49" charset="0"/>
                <a:ea typeface="JetBrains Mono" pitchFamily="49" charset="-122"/>
                <a:cs typeface="JetBrains Mono" pitchFamily="49" charset="-120"/>
              </a:rPr>
              <a:t>image_quality › adaptive_preprocess › detect_tta › nms › pose_vote › refine_pose</a:t>
            </a:r>
            <a:endParaRPr lang="en-US" sz="1200" dirty="0"/>
          </a:p>
        </p:txBody>
      </p:sp>
      <p:sp>
        <p:nvSpPr>
          <p:cNvPr id="17" name="Text 1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8" name="Text 1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08 / EVALUATION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How we evaluate: paired comparison</a:t>
            </a:r>
            <a:endParaRPr lang="en-US" sz="3200" dirty="0"/>
          </a:p>
        </p:txBody>
      </p:sp>
      <p:sp>
        <p:nvSpPr>
          <p:cNvPr id="4" name="Shape 2"/>
          <p:cNvSpPr/>
          <p:nvPr/>
        </p:nvSpPr>
        <p:spPr>
          <a:xfrm>
            <a:off x="815975" y="1831975"/>
            <a:ext cx="3295650" cy="1050290"/>
          </a:xfrm>
          <a:prstGeom prst="roundRect">
            <a:avLst>
              <a:gd name="adj" fmla="val 9371"/>
            </a:avLst>
          </a:prstGeom>
          <a:solidFill>
            <a:srgbClr val="FBFAF6"/>
          </a:solidFill>
          <a:ln w="6350">
            <a:solidFill>
              <a:srgbClr val="E2DCD0"/>
            </a:solidFill>
            <a:prstDash val="solid"/>
          </a:ln>
        </p:spPr>
      </p:sp>
      <p:sp>
        <p:nvSpPr>
          <p:cNvPr id="5" name="Text 3"/>
          <p:cNvSpPr/>
          <p:nvPr/>
        </p:nvSpPr>
        <p:spPr>
          <a:xfrm>
            <a:off x="995680" y="2011679"/>
            <a:ext cx="302432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PCK</a:t>
            </a:r>
            <a:endParaRPr lang="en-US" sz="1400" dirty="0"/>
          </a:p>
        </p:txBody>
      </p:sp>
      <p:sp>
        <p:nvSpPr>
          <p:cNvPr id="6" name="Text 4"/>
          <p:cNvSpPr/>
          <p:nvPr/>
        </p:nvSpPr>
        <p:spPr>
          <a:xfrm>
            <a:off x="995680" y="2275842"/>
            <a:ext cx="3024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Share of joints within 0.1 × body size of the ground truth.</a:t>
            </a:r>
            <a:endParaRPr lang="en-US" sz="1200" dirty="0"/>
          </a:p>
        </p:txBody>
      </p:sp>
      <p:sp>
        <p:nvSpPr>
          <p:cNvPr id="7" name="Shape 5"/>
          <p:cNvSpPr/>
          <p:nvPr/>
        </p:nvSpPr>
        <p:spPr>
          <a:xfrm>
            <a:off x="815975" y="3015617"/>
            <a:ext cx="3295650" cy="1050290"/>
          </a:xfrm>
          <a:prstGeom prst="roundRect">
            <a:avLst>
              <a:gd name="adj" fmla="val 9371"/>
            </a:avLst>
          </a:prstGeom>
          <a:solidFill>
            <a:srgbClr val="FBFAF6"/>
          </a:solidFill>
          <a:ln w="6350">
            <a:solidFill>
              <a:srgbClr val="E2DCD0"/>
            </a:solidFill>
            <a:prstDash val="solid"/>
          </a:ln>
        </p:spPr>
      </p:sp>
      <p:sp>
        <p:nvSpPr>
          <p:cNvPr id="8" name="Text 6"/>
          <p:cNvSpPr/>
          <p:nvPr/>
        </p:nvSpPr>
        <p:spPr>
          <a:xfrm>
            <a:off x="995680" y="3195321"/>
            <a:ext cx="302432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APK</a:t>
            </a:r>
            <a:endParaRPr lang="en-US" sz="1400" dirty="0"/>
          </a:p>
        </p:txBody>
      </p:sp>
      <p:sp>
        <p:nvSpPr>
          <p:cNvPr id="9" name="Text 7"/>
          <p:cNvSpPr/>
          <p:nvPr/>
        </p:nvSpPr>
        <p:spPr>
          <a:xfrm>
            <a:off x="995680" y="3459479"/>
            <a:ext cx="30243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Average precision of keypoints across all detections.</a:t>
            </a:r>
            <a:endParaRPr lang="en-US" sz="1200" dirty="0"/>
          </a:p>
        </p:txBody>
      </p:sp>
      <p:sp>
        <p:nvSpPr>
          <p:cNvPr id="10" name="Shape 8"/>
          <p:cNvSpPr/>
          <p:nvPr/>
        </p:nvSpPr>
        <p:spPr>
          <a:xfrm>
            <a:off x="815975" y="4199254"/>
            <a:ext cx="3295650" cy="836930"/>
          </a:xfrm>
          <a:prstGeom prst="roundRect">
            <a:avLst>
              <a:gd name="adj" fmla="val 11760"/>
            </a:avLst>
          </a:prstGeom>
          <a:solidFill>
            <a:srgbClr val="FBFAF6"/>
          </a:solidFill>
          <a:ln w="6350">
            <a:solidFill>
              <a:srgbClr val="E2DCD0"/>
            </a:solidFill>
            <a:prstDash val="solid"/>
          </a:ln>
        </p:spPr>
      </p:sp>
      <p:sp>
        <p:nvSpPr>
          <p:cNvPr id="11" name="Text 9"/>
          <p:cNvSpPr/>
          <p:nvPr/>
        </p:nvSpPr>
        <p:spPr>
          <a:xfrm>
            <a:off x="995680" y="4378964"/>
            <a:ext cx="302432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RUNTIME · MEASURED</a:t>
            </a:r>
            <a:endParaRPr lang="en-US" sz="1400" dirty="0"/>
          </a:p>
        </p:txBody>
      </p:sp>
      <p:sp>
        <p:nvSpPr>
          <p:cNvPr id="12" name="Text 10"/>
          <p:cNvSpPr/>
          <p:nvPr/>
        </p:nvSpPr>
        <p:spPr>
          <a:xfrm>
            <a:off x="995680" y="4643121"/>
            <a:ext cx="30243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About 1.3 s → 2.4 s per image on a CPU.</a:t>
            </a:r>
            <a:endParaRPr lang="en-US" sz="1200" dirty="0"/>
          </a:p>
        </p:txBody>
      </p:sp>
      <p:sp>
        <p:nvSpPr>
          <p:cNvPr id="13" name="Shape 11"/>
          <p:cNvSpPr/>
          <p:nvPr/>
        </p:nvSpPr>
        <p:spPr>
          <a:xfrm>
            <a:off x="4419600" y="1828800"/>
            <a:ext cx="6959600" cy="2326640"/>
          </a:xfrm>
          <a:prstGeom prst="rect">
            <a:avLst/>
          </a:prstGeom>
          <a:solidFill>
            <a:srgbClr val="FBFAF6"/>
          </a:solidFill>
          <a:ln/>
        </p:spPr>
      </p:sp>
      <p:sp>
        <p:nvSpPr>
          <p:cNvPr id="14" name="Shape 12"/>
          <p:cNvSpPr/>
          <p:nvPr/>
        </p:nvSpPr>
        <p:spPr>
          <a:xfrm>
            <a:off x="11376025" y="1828800"/>
            <a:ext cx="0" cy="2326640"/>
          </a:xfrm>
          <a:prstGeom prst="line">
            <a:avLst/>
          </a:prstGeom>
          <a:noFill/>
          <a:ln w="6350">
            <a:solidFill>
              <a:srgbClr val="E2DCD0"/>
            </a:solidFill>
            <a:prstDash val="solid"/>
          </a:ln>
        </p:spPr>
      </p:sp>
      <p:sp>
        <p:nvSpPr>
          <p:cNvPr id="15" name="Shape 13"/>
          <p:cNvSpPr/>
          <p:nvPr/>
        </p:nvSpPr>
        <p:spPr>
          <a:xfrm>
            <a:off x="4419600" y="4152265"/>
            <a:ext cx="6959600" cy="0"/>
          </a:xfrm>
          <a:prstGeom prst="line">
            <a:avLst/>
          </a:prstGeom>
          <a:noFill/>
          <a:ln w="6350">
            <a:solidFill>
              <a:srgbClr val="E2DCD0"/>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429760" y="1838960"/>
          <a:ext cx="6944360" cy="2311400"/>
        </p:xfrm>
        <a:graphic>
          <a:graphicData uri="http://schemas.openxmlformats.org/drawingml/2006/table">
            <a:tbl>
              <a:tblPr/>
              <a:tblGrid>
                <a:gridCol w="1805534"/>
                <a:gridCol w="5138826"/>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Fair-comparison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Datasets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PARSE: 205 test images · BUFFY: 276 test frames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Same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The same pretrained FMP detector in every row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Conditions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Clean, dark, low contrast, noise, blur (same images)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Tuning split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PARSE test images 1–100: every choice made 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Report split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PARSE test images 101–205: never used for tuning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Statistics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Paired bootstrap 95% confidence interval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17" name="Text 14"/>
          <p:cNvSpPr/>
          <p:nvPr/>
        </p:nvSpPr>
        <p:spPr>
          <a:xfrm>
            <a:off x="4419600" y="4282442"/>
            <a:ext cx="7168388"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F5A66"/>
                </a:solidFill>
                <a:latin typeface="IBM Plex Sans" pitchFamily="34" charset="0"/>
                <a:ea typeface="IBM Plex Sans" pitchFamily="34" charset="-122"/>
                <a:cs typeface="IBM Plex Sans" pitchFamily="34" charset="-120"/>
              </a:rPr>
              <a:t>Every number in this deck comes from </a:t>
            </a:r>
            <a:r>
              <a:rPr lang="en-US" sz="1200" dirty="0">
                <a:solidFill>
                  <a:srgbClr val="17212B"/>
                </a:solidFill>
                <a:latin typeface="IBM Plex Sans" pitchFamily="34" charset="0"/>
                <a:ea typeface="IBM Plex Sans" pitchFamily="34" charset="-122"/>
                <a:cs typeface="IBM Plex Sans" pitchFamily="34" charset="-120"/>
              </a:rPr>
              <a:t>run_final_evaluation(101:205)</a:t>
            </a:r>
            <a:r>
              <a:rPr lang="en-US" sz="1200" dirty="0">
                <a:solidFill>
                  <a:srgbClr val="4F5A66"/>
                </a:solidFill>
                <a:latin typeface="IBM Plex Sans" pitchFamily="34" charset="0"/>
                <a:ea typeface="IBM Plex Sans" pitchFamily="34" charset="-122"/>
                <a:cs typeface="IBM Plex Sans" pitchFamily="34" charset="-120"/>
              </a:rPr>
              <a:t> and reproduces exactly. FMP is deterministic.</a:t>
            </a:r>
            <a:endParaRPr lang="en-US" sz="1200" dirty="0"/>
          </a:p>
        </p:txBody>
      </p:sp>
      <p:sp>
        <p:nvSpPr>
          <p:cNvPr id="18" name="Text 1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9" name="Text 1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09 / CLEAN-SET RESULTS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Clean set: no improvement yet</a:t>
            </a:r>
            <a:endParaRPr lang="en-US" sz="3200" dirty="0"/>
          </a:p>
        </p:txBody>
      </p:sp>
      <p:sp>
        <p:nvSpPr>
          <p:cNvPr id="4" name="Shape 2"/>
          <p:cNvSpPr/>
          <p:nvPr/>
        </p:nvSpPr>
        <p:spPr>
          <a:xfrm>
            <a:off x="812800" y="1828800"/>
            <a:ext cx="3048000" cy="2136140"/>
          </a:xfrm>
          <a:prstGeom prst="roundRect">
            <a:avLst>
              <a:gd name="adj" fmla="val 4756"/>
            </a:avLst>
          </a:prstGeom>
          <a:solidFill>
            <a:srgbClr val="17212B"/>
          </a:solidFill>
          <a:ln/>
        </p:spPr>
      </p:sp>
      <p:sp>
        <p:nvSpPr>
          <p:cNvPr id="5" name="Text 3"/>
          <p:cNvSpPr/>
          <p:nvPr/>
        </p:nvSpPr>
        <p:spPr>
          <a:xfrm>
            <a:off x="1066800" y="2082800"/>
            <a:ext cx="2616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937A"/>
                </a:solidFill>
                <a:latin typeface="JetBrains Mono" pitchFamily="49" charset="0"/>
                <a:ea typeface="JetBrains Mono" pitchFamily="49" charset="-122"/>
                <a:cs typeface="JetBrains Mono" pitchFamily="49" charset="-120"/>
              </a:rPr>
              <a:t>CHANGE IN PCK</a:t>
            </a:r>
            <a:endParaRPr lang="en-US" sz="1200" dirty="0"/>
          </a:p>
        </p:txBody>
      </p:sp>
      <p:sp>
        <p:nvSpPr>
          <p:cNvPr id="6" name="Text 4"/>
          <p:cNvSpPr/>
          <p:nvPr/>
        </p:nvSpPr>
        <p:spPr>
          <a:xfrm>
            <a:off x="1066800" y="2372364"/>
            <a:ext cx="261620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5F2EC"/>
                </a:solidFill>
                <a:latin typeface="Space Grotesk" pitchFamily="34" charset="0"/>
                <a:ea typeface="Space Grotesk" pitchFamily="34" charset="-122"/>
                <a:cs typeface="Space Grotesk" pitchFamily="34" charset="-120"/>
              </a:rPr>
              <a:t>+1.16</a:t>
            </a:r>
            <a:endParaRPr lang="en-US" sz="6000" dirty="0"/>
          </a:p>
        </p:txBody>
      </p:sp>
      <p:sp>
        <p:nvSpPr>
          <p:cNvPr id="7" name="Text 5"/>
          <p:cNvSpPr/>
          <p:nvPr/>
        </p:nvSpPr>
        <p:spPr>
          <a:xfrm>
            <a:off x="1066800" y="3248664"/>
            <a:ext cx="26162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6CE"/>
                </a:solidFill>
                <a:latin typeface="IBM Plex Sans" pitchFamily="34" charset="0"/>
                <a:ea typeface="IBM Plex Sans" pitchFamily="34" charset="-122"/>
                <a:cs typeface="IBM Plex Sans" pitchFamily="34" charset="-120"/>
              </a:rPr>
              <a:t>Positive, not yet significant: 95% CI −1.53 to +3.61</a:t>
            </a:r>
            <a:endParaRPr lang="en-US" sz="1300" dirty="0"/>
          </a:p>
        </p:txBody>
      </p:sp>
      <p:sp>
        <p:nvSpPr>
          <p:cNvPr id="8" name="Text 6"/>
          <p:cNvSpPr/>
          <p:nvPr/>
        </p:nvSpPr>
        <p:spPr>
          <a:xfrm>
            <a:off x="4165600" y="1828800"/>
            <a:ext cx="7430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HELD-OUT PARSE 101–205 · SAME FMP DETECTOR AND ANNOTATIONS</a:t>
            </a:r>
            <a:endParaRPr lang="en-US" sz="1200" dirty="0"/>
          </a:p>
        </p:txBody>
      </p:sp>
      <p:sp>
        <p:nvSpPr>
          <p:cNvPr id="9" name="Shape 7"/>
          <p:cNvSpPr/>
          <p:nvPr/>
        </p:nvSpPr>
        <p:spPr>
          <a:xfrm>
            <a:off x="4165600" y="2194564"/>
            <a:ext cx="7213600" cy="1085850"/>
          </a:xfrm>
          <a:prstGeom prst="rect">
            <a:avLst/>
          </a:prstGeom>
          <a:solidFill>
            <a:srgbClr val="FBFAF6"/>
          </a:solidFill>
          <a:ln/>
        </p:spPr>
      </p:sp>
      <p:sp>
        <p:nvSpPr>
          <p:cNvPr id="10" name="Shape 8"/>
          <p:cNvSpPr/>
          <p:nvPr/>
        </p:nvSpPr>
        <p:spPr>
          <a:xfrm>
            <a:off x="11376025" y="2194564"/>
            <a:ext cx="0" cy="1085850"/>
          </a:xfrm>
          <a:prstGeom prst="line">
            <a:avLst/>
          </a:prstGeom>
          <a:noFill/>
          <a:ln w="6350">
            <a:solidFill>
              <a:srgbClr val="E2DCD0"/>
            </a:solidFill>
            <a:prstDash val="solid"/>
          </a:ln>
        </p:spPr>
      </p:sp>
      <p:sp>
        <p:nvSpPr>
          <p:cNvPr id="11" name="Shape 9"/>
          <p:cNvSpPr/>
          <p:nvPr/>
        </p:nvSpPr>
        <p:spPr>
          <a:xfrm>
            <a:off x="4165600" y="3277239"/>
            <a:ext cx="7213600" cy="0"/>
          </a:xfrm>
          <a:prstGeom prst="line">
            <a:avLst/>
          </a:prstGeom>
          <a:noFill/>
          <a:ln w="6350">
            <a:solidFill>
              <a:srgbClr val="E2DCD0"/>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75760" y="2204724"/>
          <a:ext cx="7198360" cy="1070610"/>
        </p:xfrm>
        <a:graphic>
          <a:graphicData uri="http://schemas.openxmlformats.org/drawingml/2006/table">
            <a:tbl>
              <a:tblPr/>
              <a:tblGrid>
                <a:gridCol w="1583639"/>
                <a:gridCol w="1871574"/>
                <a:gridCol w="1871574"/>
                <a:gridCol w="1871574"/>
              </a:tblGrid>
              <a:tr h="356870">
                <a:tc>
                  <a:txBody>
                    <a:bodyPr/>
                    <a:lstStyle/>
                    <a:p>
                      <a:pPr indent="0" marL="0">
                        <a:lnSpc>
                          <a:spcPts val="1820"/>
                        </a:lnSpc>
                        <a:buNone/>
                      </a:pPr>
                      <a:r>
                        <a:rPr lang="en-US" sz="1300" b="1" dirty="0">
                          <a:solidFill>
                            <a:srgbClr val="F5F2EC"/>
                          </a:solidFill>
                          <a:latin typeface="IBM Plex Sans" pitchFamily="34" charset="0"/>
                          <a:ea typeface="IBM Plex Sans" pitchFamily="34" charset="-122"/>
                          <a:cs typeface="IBM Plex Sans" pitchFamily="34" charset="-120"/>
                        </a:rPr>
                        <a:t>Metric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820"/>
                        </a:lnSpc>
                        <a:buNone/>
                      </a:pPr>
                      <a:r>
                        <a:rPr lang="en-US" sz="1300" b="1" dirty="0">
                          <a:solidFill>
                            <a:srgbClr val="F5F2EC"/>
                          </a:solidFill>
                          <a:latin typeface="IBM Plex Sans" pitchFamily="34" charset="0"/>
                          <a:ea typeface="IBM Plex Sans" pitchFamily="34" charset="-122"/>
                          <a:cs typeface="IBM Plex Sans" pitchFamily="34" charset="-120"/>
                        </a:rPr>
                        <a:t>Baseline FMP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820"/>
                        </a:lnSpc>
                        <a:buNone/>
                      </a:pPr>
                      <a:r>
                        <a:rPr lang="en-US" sz="1300" b="1" dirty="0">
                          <a:solidFill>
                            <a:srgbClr val="F5F2EC"/>
                          </a:solidFill>
                          <a:latin typeface="IBM Plex Sans" pitchFamily="34" charset="0"/>
                          <a:ea typeface="IBM Plex Sans" pitchFamily="34" charset="-122"/>
                          <a:cs typeface="IBM Plex Sans" pitchFamily="34" charset="-120"/>
                        </a:rPr>
                        <a:t>Full pipeline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820"/>
                        </a:lnSpc>
                        <a:buNone/>
                      </a:pPr>
                      <a:r>
                        <a:rPr lang="en-US" sz="1300" b="1" dirty="0">
                          <a:solidFill>
                            <a:srgbClr val="F5F2EC"/>
                          </a:solidFill>
                          <a:latin typeface="IBM Plex Sans" pitchFamily="34" charset="0"/>
                          <a:ea typeface="IBM Plex Sans" pitchFamily="34" charset="-122"/>
                          <a:cs typeface="IBM Plex Sans" pitchFamily="34" charset="-120"/>
                        </a:rPr>
                        <a:t>Change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56870">
                <a:tc>
                  <a:txBody>
                    <a:bodyPr/>
                    <a:lstStyle/>
                    <a:p>
                      <a:pPr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Mean PCK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75.37%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76.53%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20"/>
                        </a:lnSpc>
                        <a:buNone/>
                      </a:pPr>
                      <a:r>
                        <a:rPr lang="en-US" sz="1300" dirty="0">
                          <a:solidFill>
                            <a:srgbClr val="2D6CB5"/>
                          </a:solidFill>
                          <a:latin typeface="IBM Plex Sans" pitchFamily="34" charset="0"/>
                          <a:ea typeface="IBM Plex Sans" pitchFamily="34" charset="-122"/>
                          <a:cs typeface="IBM Plex Sans" pitchFamily="34" charset="-120"/>
                        </a:rPr>
                        <a:t>+1.16 pp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56870">
                <a:tc>
                  <a:txBody>
                    <a:bodyPr/>
                    <a:lstStyle/>
                    <a:p>
                      <a:pPr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Mean APK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66.19%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68.07%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20"/>
                        </a:lnSpc>
                        <a:buNone/>
                      </a:pPr>
                      <a:r>
                        <a:rPr lang="en-US" sz="1300" dirty="0">
                          <a:solidFill>
                            <a:srgbClr val="2D6CB5"/>
                          </a:solidFill>
                          <a:latin typeface="IBM Plex Sans" pitchFamily="34" charset="0"/>
                          <a:ea typeface="IBM Plex Sans" pitchFamily="34" charset="-122"/>
                          <a:cs typeface="IBM Plex Sans" pitchFamily="34" charset="-120"/>
                        </a:rPr>
                        <a:t>+1.88 pp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13" name="Shape 10"/>
          <p:cNvSpPr/>
          <p:nvPr/>
        </p:nvSpPr>
        <p:spPr>
          <a:xfrm>
            <a:off x="4168775" y="3435989"/>
            <a:ext cx="3524250" cy="1050290"/>
          </a:xfrm>
          <a:prstGeom prst="roundRect">
            <a:avLst>
              <a:gd name="adj" fmla="val 9371"/>
            </a:avLst>
          </a:prstGeom>
          <a:solidFill>
            <a:srgbClr val="FBFAF6"/>
          </a:solidFill>
          <a:ln w="6350">
            <a:solidFill>
              <a:srgbClr val="E2DCD0"/>
            </a:solidFill>
            <a:prstDash val="solid"/>
          </a:ln>
        </p:spPr>
      </p:sp>
      <p:sp>
        <p:nvSpPr>
          <p:cNvPr id="14" name="Text 11"/>
          <p:cNvSpPr/>
          <p:nvPr/>
        </p:nvSpPr>
        <p:spPr>
          <a:xfrm>
            <a:off x="4348480" y="3615692"/>
            <a:ext cx="32597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WHAT THE RESULT SAYS</a:t>
            </a:r>
            <a:endParaRPr lang="en-US" sz="1400" dirty="0"/>
          </a:p>
        </p:txBody>
      </p:sp>
      <p:sp>
        <p:nvSpPr>
          <p:cNvPr id="15" name="Text 12"/>
          <p:cNvSpPr/>
          <p:nvPr/>
        </p:nvSpPr>
        <p:spPr>
          <a:xfrm>
            <a:off x="4348480" y="3879850"/>
            <a:ext cx="32597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Both metrics rise on clean images, but 105 images cannot yet prove it.</a:t>
            </a:r>
            <a:endParaRPr lang="en-US" sz="1200" dirty="0"/>
          </a:p>
        </p:txBody>
      </p:sp>
      <p:sp>
        <p:nvSpPr>
          <p:cNvPr id="16" name="Shape 13"/>
          <p:cNvSpPr/>
          <p:nvPr/>
        </p:nvSpPr>
        <p:spPr>
          <a:xfrm>
            <a:off x="7851775" y="3435989"/>
            <a:ext cx="3524250" cy="1050290"/>
          </a:xfrm>
          <a:prstGeom prst="roundRect">
            <a:avLst>
              <a:gd name="adj" fmla="val 9371"/>
            </a:avLst>
          </a:prstGeom>
          <a:solidFill>
            <a:srgbClr val="FBFAF6"/>
          </a:solidFill>
          <a:ln w="6350">
            <a:solidFill>
              <a:srgbClr val="E2DCD0"/>
            </a:solidFill>
            <a:prstDash val="solid"/>
          </a:ln>
        </p:spPr>
      </p:sp>
      <p:sp>
        <p:nvSpPr>
          <p:cNvPr id="17" name="Text 14"/>
          <p:cNvSpPr/>
          <p:nvPr/>
        </p:nvSpPr>
        <p:spPr>
          <a:xfrm>
            <a:off x="8031480" y="3615692"/>
            <a:ext cx="32597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HOW WE REPORT IT</a:t>
            </a:r>
            <a:endParaRPr lang="en-US" sz="1400" dirty="0"/>
          </a:p>
        </p:txBody>
      </p:sp>
      <p:sp>
        <p:nvSpPr>
          <p:cNvPr id="18" name="Text 15"/>
          <p:cNvSpPr/>
          <p:nvPr/>
        </p:nvSpPr>
        <p:spPr>
          <a:xfrm>
            <a:off x="8031480" y="3879850"/>
            <a:ext cx="32597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No significant clean gain is claimed. The pipeline targets degraded images.</a:t>
            </a:r>
            <a:endParaRPr lang="en-US" sz="1200" dirty="0"/>
          </a:p>
        </p:txBody>
      </p:sp>
      <p:sp>
        <p:nvSpPr>
          <p:cNvPr id="19" name="Text 16"/>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20" name="Text 1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10 / JOINT RESULTS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The effect varies across body joints</a:t>
            </a:r>
            <a:endParaRPr lang="en-US" sz="3200" dirty="0"/>
          </a:p>
        </p:txBody>
      </p:sp>
      <p:sp>
        <p:nvSpPr>
          <p:cNvPr id="4" name="Text 2"/>
          <p:cNvSpPr/>
          <p:nvPr/>
        </p:nvSpPr>
        <p:spPr>
          <a:xfrm>
            <a:off x="812800" y="18034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A66"/>
                </a:solidFill>
                <a:latin typeface="JetBrains Mono" pitchFamily="49" charset="0"/>
                <a:ea typeface="JetBrains Mono" pitchFamily="49" charset="-122"/>
                <a:cs typeface="JetBrains Mono" pitchFamily="49" charset="-120"/>
              </a:rPr>
              <a:t>PARSE CLEAN · HELD-OUT · PCK %</a:t>
            </a:r>
            <a:endParaRPr lang="en-US" sz="1200" dirty="0"/>
          </a:p>
        </p:txBody>
      </p:sp>
      <p:sp>
        <p:nvSpPr>
          <p:cNvPr id="5" name="Shape 3"/>
          <p:cNvSpPr/>
          <p:nvPr/>
        </p:nvSpPr>
        <p:spPr>
          <a:xfrm>
            <a:off x="812800" y="2118364"/>
            <a:ext cx="5130800" cy="2987040"/>
          </a:xfrm>
          <a:prstGeom prst="rect">
            <a:avLst/>
          </a:prstGeom>
          <a:solidFill>
            <a:srgbClr val="FBFAF6"/>
          </a:solidFill>
          <a:ln/>
        </p:spPr>
      </p:sp>
      <p:sp>
        <p:nvSpPr>
          <p:cNvPr id="6" name="Shape 4"/>
          <p:cNvSpPr/>
          <p:nvPr/>
        </p:nvSpPr>
        <p:spPr>
          <a:xfrm>
            <a:off x="5940425" y="2118364"/>
            <a:ext cx="0" cy="2987040"/>
          </a:xfrm>
          <a:prstGeom prst="line">
            <a:avLst/>
          </a:prstGeom>
          <a:noFill/>
          <a:ln w="6350">
            <a:solidFill>
              <a:srgbClr val="E2DCD0"/>
            </a:solidFill>
            <a:prstDash val="solid"/>
          </a:ln>
        </p:spPr>
      </p:sp>
      <p:sp>
        <p:nvSpPr>
          <p:cNvPr id="7" name="Shape 5"/>
          <p:cNvSpPr/>
          <p:nvPr/>
        </p:nvSpPr>
        <p:spPr>
          <a:xfrm>
            <a:off x="812800" y="5102229"/>
            <a:ext cx="5130800" cy="0"/>
          </a:xfrm>
          <a:prstGeom prst="line">
            <a:avLst/>
          </a:prstGeom>
          <a:noFill/>
          <a:ln w="6350">
            <a:solidFill>
              <a:srgbClr val="E2DCD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128524"/>
          <a:ext cx="5115560" cy="2971800"/>
        </p:xfrm>
        <a:graphic>
          <a:graphicData uri="http://schemas.openxmlformats.org/drawingml/2006/table">
            <a:tbl>
              <a:tblPr/>
              <a:tblGrid>
                <a:gridCol w="1585824"/>
                <a:gridCol w="1176579"/>
                <a:gridCol w="1176579"/>
                <a:gridCol w="1176579"/>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Joint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Baseline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Full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Δ</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Head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Shoulder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88.6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Elbow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Wrist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47.6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Hip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Knee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Ankle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Mean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76.5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F4F87"/>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bl>
          </a:graphicData>
        </a:graphic>
      </p:graphicFrame>
      <p:sp>
        <p:nvSpPr>
          <p:cNvPr id="9" name="Text 6"/>
          <p:cNvSpPr/>
          <p:nvPr/>
        </p:nvSpPr>
        <p:spPr>
          <a:xfrm>
            <a:off x="6248400" y="18034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A66"/>
                </a:solidFill>
                <a:latin typeface="JetBrains Mono" pitchFamily="49" charset="0"/>
                <a:ea typeface="JetBrains Mono" pitchFamily="49" charset="-122"/>
                <a:cs typeface="JetBrains Mono" pitchFamily="49" charset="-120"/>
              </a:rPr>
              <a:t>BUFFY · 276 FRAMES · PCK %</a:t>
            </a:r>
            <a:endParaRPr lang="en-US" sz="1200" dirty="0"/>
          </a:p>
        </p:txBody>
      </p:sp>
      <p:sp>
        <p:nvSpPr>
          <p:cNvPr id="10" name="Shape 7"/>
          <p:cNvSpPr/>
          <p:nvPr/>
        </p:nvSpPr>
        <p:spPr>
          <a:xfrm>
            <a:off x="6248400" y="2118364"/>
            <a:ext cx="5130800" cy="2326640"/>
          </a:xfrm>
          <a:prstGeom prst="rect">
            <a:avLst/>
          </a:prstGeom>
          <a:solidFill>
            <a:srgbClr val="FBFAF6"/>
          </a:solidFill>
          <a:ln/>
        </p:spPr>
      </p:sp>
      <p:sp>
        <p:nvSpPr>
          <p:cNvPr id="11" name="Shape 8"/>
          <p:cNvSpPr/>
          <p:nvPr/>
        </p:nvSpPr>
        <p:spPr>
          <a:xfrm>
            <a:off x="11376025" y="2118364"/>
            <a:ext cx="0" cy="2326640"/>
          </a:xfrm>
          <a:prstGeom prst="line">
            <a:avLst/>
          </a:prstGeom>
          <a:noFill/>
          <a:ln w="6350">
            <a:solidFill>
              <a:srgbClr val="E2DCD0"/>
            </a:solidFill>
            <a:prstDash val="solid"/>
          </a:ln>
        </p:spPr>
      </p:sp>
      <p:sp>
        <p:nvSpPr>
          <p:cNvPr id="12" name="Shape 9"/>
          <p:cNvSpPr/>
          <p:nvPr/>
        </p:nvSpPr>
        <p:spPr>
          <a:xfrm>
            <a:off x="6248400" y="4441829"/>
            <a:ext cx="5130800" cy="0"/>
          </a:xfrm>
          <a:prstGeom prst="line">
            <a:avLst/>
          </a:prstGeom>
          <a:noFill/>
          <a:ln w="6350">
            <a:solidFill>
              <a:srgbClr val="E2DCD0"/>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58560" y="2128524"/>
          <a:ext cx="5115560" cy="2311400"/>
        </p:xfrm>
        <a:graphic>
          <a:graphicData uri="http://schemas.openxmlformats.org/drawingml/2006/table">
            <a:tbl>
              <a:tblPr/>
              <a:tblGrid>
                <a:gridCol w="1585824"/>
                <a:gridCol w="1176579"/>
                <a:gridCol w="1176579"/>
                <a:gridCol w="1176579"/>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Joint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Baseline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Enhanced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Δ</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Head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Shoulder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Elbow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90.6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Wrist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Hip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+4.2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Mean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F4F87"/>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bl>
          </a:graphicData>
        </a:graphic>
      </p:graphicFrame>
      <p:sp>
        <p:nvSpPr>
          <p:cNvPr id="14" name="Text 10"/>
          <p:cNvSpPr/>
          <p:nvPr/>
        </p:nvSpPr>
        <p:spPr>
          <a:xfrm>
            <a:off x="812800" y="53340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12B"/>
                </a:solidFill>
                <a:latin typeface="IBM Plex Sans" pitchFamily="34" charset="0"/>
                <a:ea typeface="IBM Plex Sans" pitchFamily="34" charset="-122"/>
                <a:cs typeface="IBM Plex Sans" pitchFamily="34" charset="-120"/>
              </a:rPr>
              <a:t>No joint is significantly worse:</a:t>
            </a:r>
            <a:r>
              <a:rPr lang="en-US" sz="1300" dirty="0">
                <a:solidFill>
                  <a:srgbClr val="17212B"/>
                </a:solidFill>
                <a:latin typeface="IBM Plex Sans" pitchFamily="34" charset="0"/>
                <a:ea typeface="IBM Plex Sans" pitchFamily="34" charset="-122"/>
                <a:cs typeface="IBM Plex Sans" pitchFamily="34" charset="-120"/>
              </a:rPr>
              <a:t> every dip’s 95% CI includes zero. The ankle gain (+5.7) is significant; both means rise.</a:t>
            </a:r>
            <a:endParaRPr lang="en-US" sz="1300" dirty="0"/>
          </a:p>
        </p:txBody>
      </p:sp>
      <p:sp>
        <p:nvSpPr>
          <p:cNvPr id="15" name="Text 11"/>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6" name="Text 12"/>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11 / PREPROCESSING ACTIVITY</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The policy is deliberately conservative</a:t>
            </a:r>
            <a:endParaRPr lang="en-US" sz="3200" dirty="0"/>
          </a:p>
        </p:txBody>
      </p:sp>
      <p:sp>
        <p:nvSpPr>
          <p:cNvPr id="4" name="Text 2"/>
          <p:cNvSpPr/>
          <p:nvPr/>
        </p:nvSpPr>
        <p:spPr>
          <a:xfrm>
            <a:off x="812800" y="1828800"/>
            <a:ext cx="6802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A66"/>
                </a:solidFill>
                <a:latin typeface="JetBrains Mono" pitchFamily="49" charset="0"/>
                <a:ea typeface="JetBrains Mono" pitchFamily="49" charset="-122"/>
                <a:cs typeface="JetBrains Mono" pitchFamily="49" charset="-120"/>
              </a:rPr>
              <a:t>SHARE OF IMAGES RESTORED · HELD-OUT PARSE · 105 PER CONDITION</a:t>
            </a:r>
            <a:endParaRPr lang="en-US" sz="1200" dirty="0"/>
          </a:p>
        </p:txBody>
      </p:sp>
      <p:sp>
        <p:nvSpPr>
          <p:cNvPr id="5" name="Text 3"/>
          <p:cNvSpPr/>
          <p:nvPr/>
        </p:nvSpPr>
        <p:spPr>
          <a:xfrm>
            <a:off x="812800" y="21996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Clean</a:t>
            </a:r>
            <a:endParaRPr lang="en-US" sz="1300" dirty="0"/>
          </a:p>
        </p:txBody>
      </p:sp>
      <p:sp>
        <p:nvSpPr>
          <p:cNvPr id="6" name="Shape 4"/>
          <p:cNvSpPr/>
          <p:nvPr/>
        </p:nvSpPr>
        <p:spPr>
          <a:xfrm>
            <a:off x="2235200" y="2188214"/>
            <a:ext cx="4445000" cy="254000"/>
          </a:xfrm>
          <a:prstGeom prst="roundRect">
            <a:avLst>
              <a:gd name="adj" fmla="val 20000"/>
            </a:avLst>
          </a:prstGeom>
          <a:solidFill>
            <a:srgbClr val="E4DED3"/>
          </a:solidFill>
          <a:ln/>
        </p:spPr>
      </p:sp>
      <p:sp>
        <p:nvSpPr>
          <p:cNvPr id="7" name="Shape 5"/>
          <p:cNvSpPr/>
          <p:nvPr/>
        </p:nvSpPr>
        <p:spPr>
          <a:xfrm>
            <a:off x="2235200" y="2188214"/>
            <a:ext cx="4445000" cy="254000"/>
          </a:xfrm>
          <a:prstGeom prst="roundRect">
            <a:avLst>
              <a:gd name="adj" fmla="val 20000"/>
            </a:avLst>
          </a:prstGeom>
          <a:solidFill>
            <a:srgbClr val="2D6CB5"/>
          </a:solidFill>
          <a:ln/>
        </p:spPr>
      </p:sp>
      <p:sp>
        <p:nvSpPr>
          <p:cNvPr id="8" name="Text 6"/>
          <p:cNvSpPr/>
          <p:nvPr/>
        </p:nvSpPr>
        <p:spPr>
          <a:xfrm>
            <a:off x="6832600" y="2181864"/>
            <a:ext cx="4103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12B"/>
                </a:solidFill>
                <a:latin typeface="Space Grotesk" pitchFamily="34" charset="0"/>
                <a:ea typeface="Space Grotesk" pitchFamily="34" charset="-122"/>
                <a:cs typeface="Space Grotesk" pitchFamily="34" charset="-120"/>
              </a:rPr>
              <a:t>31%</a:t>
            </a:r>
            <a:endParaRPr lang="en-US" sz="1500" dirty="0"/>
          </a:p>
        </p:txBody>
      </p:sp>
      <p:sp>
        <p:nvSpPr>
          <p:cNvPr id="9" name="Text 7"/>
          <p:cNvSpPr/>
          <p:nvPr/>
        </p:nvSpPr>
        <p:spPr>
          <a:xfrm>
            <a:off x="812800" y="26060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Dark</a:t>
            </a:r>
            <a:endParaRPr lang="en-US" sz="1300" dirty="0"/>
          </a:p>
        </p:txBody>
      </p:sp>
      <p:sp>
        <p:nvSpPr>
          <p:cNvPr id="10" name="Shape 8"/>
          <p:cNvSpPr/>
          <p:nvPr/>
        </p:nvSpPr>
        <p:spPr>
          <a:xfrm>
            <a:off x="2235200" y="2594614"/>
            <a:ext cx="4445000" cy="254000"/>
          </a:xfrm>
          <a:prstGeom prst="roundRect">
            <a:avLst>
              <a:gd name="adj" fmla="val 20000"/>
            </a:avLst>
          </a:prstGeom>
          <a:solidFill>
            <a:srgbClr val="E4DED3"/>
          </a:solidFill>
          <a:ln/>
        </p:spPr>
      </p:sp>
      <p:sp>
        <p:nvSpPr>
          <p:cNvPr id="11" name="Shape 9"/>
          <p:cNvSpPr/>
          <p:nvPr/>
        </p:nvSpPr>
        <p:spPr>
          <a:xfrm>
            <a:off x="2235200" y="2594614"/>
            <a:ext cx="4445000" cy="254000"/>
          </a:xfrm>
          <a:prstGeom prst="roundRect">
            <a:avLst>
              <a:gd name="adj" fmla="val 20000"/>
            </a:avLst>
          </a:prstGeom>
          <a:solidFill>
            <a:srgbClr val="2D6CB5"/>
          </a:solidFill>
          <a:ln/>
        </p:spPr>
      </p:sp>
      <p:sp>
        <p:nvSpPr>
          <p:cNvPr id="12" name="Text 10"/>
          <p:cNvSpPr/>
          <p:nvPr/>
        </p:nvSpPr>
        <p:spPr>
          <a:xfrm>
            <a:off x="6832600" y="2588264"/>
            <a:ext cx="45605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12B"/>
                </a:solidFill>
                <a:latin typeface="Space Grotesk" pitchFamily="34" charset="0"/>
                <a:ea typeface="Space Grotesk" pitchFamily="34" charset="-122"/>
                <a:cs typeface="Space Grotesk" pitchFamily="34" charset="-120"/>
              </a:rPr>
              <a:t>69%</a:t>
            </a:r>
            <a:endParaRPr lang="en-US" sz="1500" dirty="0"/>
          </a:p>
        </p:txBody>
      </p:sp>
      <p:sp>
        <p:nvSpPr>
          <p:cNvPr id="13" name="Text 11"/>
          <p:cNvSpPr/>
          <p:nvPr/>
        </p:nvSpPr>
        <p:spPr>
          <a:xfrm>
            <a:off x="812800" y="30124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Low contrast</a:t>
            </a:r>
            <a:endParaRPr lang="en-US" sz="1300" dirty="0"/>
          </a:p>
        </p:txBody>
      </p:sp>
      <p:sp>
        <p:nvSpPr>
          <p:cNvPr id="14" name="Shape 12"/>
          <p:cNvSpPr/>
          <p:nvPr/>
        </p:nvSpPr>
        <p:spPr>
          <a:xfrm>
            <a:off x="2235200" y="3001014"/>
            <a:ext cx="4445000" cy="254000"/>
          </a:xfrm>
          <a:prstGeom prst="roundRect">
            <a:avLst>
              <a:gd name="adj" fmla="val 20000"/>
            </a:avLst>
          </a:prstGeom>
          <a:solidFill>
            <a:srgbClr val="E4DED3"/>
          </a:solidFill>
          <a:ln/>
        </p:spPr>
      </p:sp>
      <p:sp>
        <p:nvSpPr>
          <p:cNvPr id="15" name="Shape 13"/>
          <p:cNvSpPr/>
          <p:nvPr/>
        </p:nvSpPr>
        <p:spPr>
          <a:xfrm>
            <a:off x="2235200" y="3001014"/>
            <a:ext cx="4445000" cy="254000"/>
          </a:xfrm>
          <a:prstGeom prst="roundRect">
            <a:avLst>
              <a:gd name="adj" fmla="val 20000"/>
            </a:avLst>
          </a:prstGeom>
          <a:solidFill>
            <a:srgbClr val="2D6CB5"/>
          </a:solidFill>
          <a:ln/>
        </p:spPr>
      </p:sp>
      <p:sp>
        <p:nvSpPr>
          <p:cNvPr id="16" name="Text 14"/>
          <p:cNvSpPr/>
          <p:nvPr/>
        </p:nvSpPr>
        <p:spPr>
          <a:xfrm>
            <a:off x="6832600" y="2994664"/>
            <a:ext cx="4126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12B"/>
                </a:solidFill>
                <a:latin typeface="Space Grotesk" pitchFamily="34" charset="0"/>
                <a:ea typeface="Space Grotesk" pitchFamily="34" charset="-122"/>
                <a:cs typeface="Space Grotesk" pitchFamily="34" charset="-120"/>
              </a:rPr>
              <a:t>15%</a:t>
            </a:r>
            <a:endParaRPr lang="en-US" sz="1500" dirty="0"/>
          </a:p>
        </p:txBody>
      </p:sp>
      <p:sp>
        <p:nvSpPr>
          <p:cNvPr id="17" name="Text 15"/>
          <p:cNvSpPr/>
          <p:nvPr/>
        </p:nvSpPr>
        <p:spPr>
          <a:xfrm>
            <a:off x="812800" y="34188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Noise</a:t>
            </a:r>
            <a:endParaRPr lang="en-US" sz="1300" dirty="0"/>
          </a:p>
        </p:txBody>
      </p:sp>
      <p:sp>
        <p:nvSpPr>
          <p:cNvPr id="18" name="Shape 16"/>
          <p:cNvSpPr/>
          <p:nvPr/>
        </p:nvSpPr>
        <p:spPr>
          <a:xfrm>
            <a:off x="2235200" y="3407414"/>
            <a:ext cx="4445000" cy="254000"/>
          </a:xfrm>
          <a:prstGeom prst="roundRect">
            <a:avLst>
              <a:gd name="adj" fmla="val 20000"/>
            </a:avLst>
          </a:prstGeom>
          <a:solidFill>
            <a:srgbClr val="E4DED3"/>
          </a:solidFill>
          <a:ln/>
        </p:spPr>
      </p:sp>
      <p:sp>
        <p:nvSpPr>
          <p:cNvPr id="19" name="Shape 17"/>
          <p:cNvSpPr/>
          <p:nvPr/>
        </p:nvSpPr>
        <p:spPr>
          <a:xfrm>
            <a:off x="2235200" y="3407414"/>
            <a:ext cx="4445000" cy="254000"/>
          </a:xfrm>
          <a:prstGeom prst="roundRect">
            <a:avLst>
              <a:gd name="adj" fmla="val 20000"/>
            </a:avLst>
          </a:prstGeom>
          <a:solidFill>
            <a:srgbClr val="2D6CB5"/>
          </a:solidFill>
          <a:ln/>
        </p:spPr>
      </p:sp>
      <p:sp>
        <p:nvSpPr>
          <p:cNvPr id="20" name="Text 18"/>
          <p:cNvSpPr/>
          <p:nvPr/>
        </p:nvSpPr>
        <p:spPr>
          <a:xfrm>
            <a:off x="6832600" y="3401064"/>
            <a:ext cx="5708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12B"/>
                </a:solidFill>
                <a:latin typeface="Space Grotesk" pitchFamily="34" charset="0"/>
                <a:ea typeface="Space Grotesk" pitchFamily="34" charset="-122"/>
                <a:cs typeface="Space Grotesk" pitchFamily="34" charset="-120"/>
              </a:rPr>
              <a:t>100%</a:t>
            </a:r>
            <a:endParaRPr lang="en-US" sz="1500" dirty="0"/>
          </a:p>
        </p:txBody>
      </p:sp>
      <p:sp>
        <p:nvSpPr>
          <p:cNvPr id="21" name="Text 19"/>
          <p:cNvSpPr/>
          <p:nvPr/>
        </p:nvSpPr>
        <p:spPr>
          <a:xfrm>
            <a:off x="812800" y="38252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Blur</a:t>
            </a:r>
            <a:endParaRPr lang="en-US" sz="1300" dirty="0"/>
          </a:p>
        </p:txBody>
      </p:sp>
      <p:sp>
        <p:nvSpPr>
          <p:cNvPr id="22" name="Shape 20"/>
          <p:cNvSpPr/>
          <p:nvPr/>
        </p:nvSpPr>
        <p:spPr>
          <a:xfrm>
            <a:off x="2235200" y="3813814"/>
            <a:ext cx="4445000" cy="254000"/>
          </a:xfrm>
          <a:prstGeom prst="roundRect">
            <a:avLst>
              <a:gd name="adj" fmla="val 20000"/>
            </a:avLst>
          </a:prstGeom>
          <a:solidFill>
            <a:srgbClr val="E4DED3"/>
          </a:solidFill>
          <a:ln/>
        </p:spPr>
      </p:sp>
      <p:sp>
        <p:nvSpPr>
          <p:cNvPr id="23" name="Shape 21"/>
          <p:cNvSpPr/>
          <p:nvPr/>
        </p:nvSpPr>
        <p:spPr>
          <a:xfrm>
            <a:off x="2235200" y="3813814"/>
            <a:ext cx="4445000" cy="254000"/>
          </a:xfrm>
          <a:prstGeom prst="roundRect">
            <a:avLst>
              <a:gd name="adj" fmla="val 20000"/>
            </a:avLst>
          </a:prstGeom>
          <a:solidFill>
            <a:srgbClr val="2D6CB5"/>
          </a:solidFill>
          <a:ln/>
        </p:spPr>
      </p:sp>
      <p:sp>
        <p:nvSpPr>
          <p:cNvPr id="24" name="Text 22"/>
          <p:cNvSpPr/>
          <p:nvPr/>
        </p:nvSpPr>
        <p:spPr>
          <a:xfrm>
            <a:off x="6832600" y="3807464"/>
            <a:ext cx="45358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12B"/>
                </a:solidFill>
                <a:latin typeface="Space Grotesk" pitchFamily="34" charset="0"/>
                <a:ea typeface="Space Grotesk" pitchFamily="34" charset="-122"/>
                <a:cs typeface="Space Grotesk" pitchFamily="34" charset="-120"/>
              </a:rPr>
              <a:t>89%</a:t>
            </a:r>
            <a:endParaRPr lang="en-US" sz="1500" dirty="0"/>
          </a:p>
        </p:txBody>
      </p:sp>
      <p:sp>
        <p:nvSpPr>
          <p:cNvPr id="25" name="Shape 23"/>
          <p:cNvSpPr/>
          <p:nvPr/>
        </p:nvSpPr>
        <p:spPr>
          <a:xfrm>
            <a:off x="7724775" y="1831975"/>
            <a:ext cx="3651250" cy="1050290"/>
          </a:xfrm>
          <a:prstGeom prst="roundRect">
            <a:avLst>
              <a:gd name="adj" fmla="val 9371"/>
            </a:avLst>
          </a:prstGeom>
          <a:solidFill>
            <a:srgbClr val="FBFAF6"/>
          </a:solidFill>
          <a:ln w="6350">
            <a:solidFill>
              <a:srgbClr val="E2DCD0"/>
            </a:solidFill>
            <a:prstDash val="solid"/>
          </a:ln>
        </p:spPr>
      </p:sp>
      <p:sp>
        <p:nvSpPr>
          <p:cNvPr id="26" name="Text 24"/>
          <p:cNvSpPr/>
          <p:nvPr/>
        </p:nvSpPr>
        <p:spPr>
          <a:xfrm>
            <a:off x="7904480" y="2011679"/>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ONE FIX AT MOST</a:t>
            </a:r>
            <a:endParaRPr lang="en-US" sz="1400" dirty="0"/>
          </a:p>
        </p:txBody>
      </p:sp>
      <p:sp>
        <p:nvSpPr>
          <p:cNvPr id="27" name="Text 25"/>
          <p:cNvSpPr/>
          <p:nvPr/>
        </p:nvSpPr>
        <p:spPr>
          <a:xfrm>
            <a:off x="7904480" y="2275842"/>
            <a:ext cx="339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Noise first, then blur, then darkness. Low-contrast images are left alone by design.</a:t>
            </a:r>
            <a:endParaRPr lang="en-US" sz="1200" dirty="0"/>
          </a:p>
        </p:txBody>
      </p:sp>
      <p:sp>
        <p:nvSpPr>
          <p:cNvPr id="28" name="Shape 26"/>
          <p:cNvSpPr/>
          <p:nvPr/>
        </p:nvSpPr>
        <p:spPr>
          <a:xfrm>
            <a:off x="7724775" y="3015617"/>
            <a:ext cx="3651250" cy="1263650"/>
          </a:xfrm>
          <a:prstGeom prst="roundRect">
            <a:avLst>
              <a:gd name="adj" fmla="val 7789"/>
            </a:avLst>
          </a:prstGeom>
          <a:solidFill>
            <a:srgbClr val="E3ECF6"/>
          </a:solidFill>
          <a:ln w="6350">
            <a:solidFill>
              <a:srgbClr val="BCD0E8"/>
            </a:solidFill>
            <a:prstDash val="solid"/>
          </a:ln>
        </p:spPr>
      </p:sp>
      <p:sp>
        <p:nvSpPr>
          <p:cNvPr id="29" name="Text 27"/>
          <p:cNvSpPr/>
          <p:nvPr/>
        </p:nvSpPr>
        <p:spPr>
          <a:xfrm>
            <a:off x="7904480" y="3195321"/>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F87"/>
                </a:solidFill>
                <a:latin typeface="Space Grotesk" pitchFamily="34" charset="0"/>
                <a:ea typeface="Space Grotesk" pitchFamily="34" charset="-122"/>
                <a:cs typeface="Space Grotesk" pitchFamily="34" charset="-120"/>
              </a:rPr>
              <a:t>MID-REVIEW → NOW</a:t>
            </a:r>
            <a:endParaRPr lang="en-US" sz="1400" dirty="0"/>
          </a:p>
        </p:txBody>
      </p:sp>
      <p:sp>
        <p:nvSpPr>
          <p:cNvPr id="30" name="Text 28"/>
          <p:cNvSpPr/>
          <p:nvPr/>
        </p:nvSpPr>
        <p:spPr>
          <a:xfrm>
            <a:off x="7904480" y="3459479"/>
            <a:ext cx="339059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Noise and blur were detected only. Now every noisy image and 89% of blurred ones are restored.</a:t>
            </a:r>
            <a:endParaRPr lang="en-US" sz="1200" dirty="0"/>
          </a:p>
        </p:txBody>
      </p:sp>
      <p:sp>
        <p:nvSpPr>
          <p:cNvPr id="31" name="Text 29"/>
          <p:cNvSpPr/>
          <p:nvPr/>
        </p:nvSpPr>
        <p:spPr>
          <a:xfrm>
            <a:off x="812800" y="453644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The 31% of clean photos that trigger a fix are dim, soft or grainy originals. Clean PCK is still unchanged overall.</a:t>
            </a:r>
            <a:endParaRPr lang="en-US" sz="1300" dirty="0"/>
          </a:p>
        </p:txBody>
      </p:sp>
      <p:sp>
        <p:nvSpPr>
          <p:cNvPr id="32" name="Text 30"/>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33" name="Text 3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12 / ROBUSTNESS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Modest gains: dark and low contrast</a:t>
            </a:r>
            <a:endParaRPr lang="en-US" sz="3200" dirty="0"/>
          </a:p>
        </p:txBody>
      </p:sp>
      <p:sp>
        <p:nvSpPr>
          <p:cNvPr id="4" name="Shape 2"/>
          <p:cNvSpPr/>
          <p:nvPr/>
        </p:nvSpPr>
        <p:spPr>
          <a:xfrm>
            <a:off x="812800" y="1778000"/>
            <a:ext cx="2527300" cy="1371600"/>
          </a:xfrm>
          <a:prstGeom prst="roundRect">
            <a:avLst>
              <a:gd name="adj" fmla="val 7407"/>
            </a:avLst>
          </a:prstGeom>
          <a:solidFill>
            <a:srgbClr val="2D6CB5"/>
          </a:solidFill>
          <a:ln/>
        </p:spPr>
      </p:sp>
      <p:sp>
        <p:nvSpPr>
          <p:cNvPr id="5" name="Text 3"/>
          <p:cNvSpPr/>
          <p:nvPr/>
        </p:nvSpPr>
        <p:spPr>
          <a:xfrm>
            <a:off x="990600" y="1955800"/>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3ECF6"/>
                </a:solidFill>
                <a:latin typeface="JetBrains Mono" pitchFamily="49" charset="0"/>
                <a:ea typeface="JetBrains Mono" pitchFamily="49" charset="-122"/>
                <a:cs typeface="JetBrains Mono" pitchFamily="49" charset="-120"/>
              </a:rPr>
              <a:t>NOISE · SIGNIFICANT</a:t>
            </a:r>
            <a:endParaRPr lang="en-US" sz="1200" dirty="0"/>
          </a:p>
        </p:txBody>
      </p:sp>
      <p:sp>
        <p:nvSpPr>
          <p:cNvPr id="6" name="Text 4"/>
          <p:cNvSpPr/>
          <p:nvPr/>
        </p:nvSpPr>
        <p:spPr>
          <a:xfrm>
            <a:off x="990600" y="2207264"/>
            <a:ext cx="223685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BFAF6"/>
                </a:solidFill>
                <a:latin typeface="Space Grotesk" pitchFamily="34" charset="0"/>
                <a:ea typeface="Space Grotesk" pitchFamily="34" charset="-122"/>
                <a:cs typeface="Space Grotesk" pitchFamily="34" charset="-120"/>
              </a:rPr>
              <a:t>+6.0</a:t>
            </a:r>
            <a:endParaRPr lang="en-US" sz="3600" dirty="0"/>
          </a:p>
        </p:txBody>
      </p:sp>
      <p:sp>
        <p:nvSpPr>
          <p:cNvPr id="7" name="Text 5"/>
          <p:cNvSpPr/>
          <p:nvPr/>
        </p:nvSpPr>
        <p:spPr>
          <a:xfrm>
            <a:off x="990600" y="2748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IBM Plex Sans" pitchFamily="34" charset="0"/>
                <a:ea typeface="IBM Plex Sans" pitchFamily="34" charset="-122"/>
                <a:cs typeface="IBM Plex Sans" pitchFamily="34" charset="-120"/>
              </a:rPr>
              <a:t>PCK · APK +8.1</a:t>
            </a:r>
            <a:endParaRPr lang="en-US" sz="1200" dirty="0"/>
          </a:p>
        </p:txBody>
      </p:sp>
      <p:sp>
        <p:nvSpPr>
          <p:cNvPr id="8" name="Shape 6"/>
          <p:cNvSpPr/>
          <p:nvPr/>
        </p:nvSpPr>
        <p:spPr>
          <a:xfrm>
            <a:off x="3492500" y="1778000"/>
            <a:ext cx="2527300" cy="1371600"/>
          </a:xfrm>
          <a:prstGeom prst="roundRect">
            <a:avLst>
              <a:gd name="adj" fmla="val 7407"/>
            </a:avLst>
          </a:prstGeom>
          <a:solidFill>
            <a:srgbClr val="2D6CB5"/>
          </a:solidFill>
          <a:ln/>
        </p:spPr>
      </p:sp>
      <p:sp>
        <p:nvSpPr>
          <p:cNvPr id="9" name="Text 7"/>
          <p:cNvSpPr/>
          <p:nvPr/>
        </p:nvSpPr>
        <p:spPr>
          <a:xfrm>
            <a:off x="3670300" y="1955800"/>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3ECF6"/>
                </a:solidFill>
                <a:latin typeface="JetBrains Mono" pitchFamily="49" charset="0"/>
                <a:ea typeface="JetBrains Mono" pitchFamily="49" charset="-122"/>
                <a:cs typeface="JetBrains Mono" pitchFamily="49" charset="-120"/>
              </a:rPr>
              <a:t>BLUR · SIGNIFICANT</a:t>
            </a:r>
            <a:endParaRPr lang="en-US" sz="1200" dirty="0"/>
          </a:p>
        </p:txBody>
      </p:sp>
      <p:sp>
        <p:nvSpPr>
          <p:cNvPr id="10" name="Text 8"/>
          <p:cNvSpPr/>
          <p:nvPr/>
        </p:nvSpPr>
        <p:spPr>
          <a:xfrm>
            <a:off x="3670300" y="2207264"/>
            <a:ext cx="223685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BFAF6"/>
                </a:solidFill>
                <a:latin typeface="Space Grotesk" pitchFamily="34" charset="0"/>
                <a:ea typeface="Space Grotesk" pitchFamily="34" charset="-122"/>
                <a:cs typeface="Space Grotesk" pitchFamily="34" charset="-120"/>
              </a:rPr>
              <a:t>+6.8</a:t>
            </a:r>
            <a:endParaRPr lang="en-US" sz="3600" dirty="0"/>
          </a:p>
        </p:txBody>
      </p:sp>
      <p:sp>
        <p:nvSpPr>
          <p:cNvPr id="11" name="Text 9"/>
          <p:cNvSpPr/>
          <p:nvPr/>
        </p:nvSpPr>
        <p:spPr>
          <a:xfrm>
            <a:off x="3670300" y="2748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IBM Plex Sans" pitchFamily="34" charset="0"/>
                <a:ea typeface="IBM Plex Sans" pitchFamily="34" charset="-122"/>
                <a:cs typeface="IBM Plex Sans" pitchFamily="34" charset="-120"/>
              </a:rPr>
              <a:t>PCK · APK +10.7</a:t>
            </a:r>
            <a:endParaRPr lang="en-US" sz="1200" dirty="0"/>
          </a:p>
        </p:txBody>
      </p:sp>
      <p:sp>
        <p:nvSpPr>
          <p:cNvPr id="12" name="Shape 10"/>
          <p:cNvSpPr/>
          <p:nvPr/>
        </p:nvSpPr>
        <p:spPr>
          <a:xfrm>
            <a:off x="6172200" y="1778000"/>
            <a:ext cx="2527300" cy="1371600"/>
          </a:xfrm>
          <a:prstGeom prst="roundRect">
            <a:avLst>
              <a:gd name="adj" fmla="val 7407"/>
            </a:avLst>
          </a:prstGeom>
          <a:solidFill>
            <a:srgbClr val="2D6CB5"/>
          </a:solidFill>
          <a:ln/>
        </p:spPr>
      </p:sp>
      <p:sp>
        <p:nvSpPr>
          <p:cNvPr id="13" name="Text 11"/>
          <p:cNvSpPr/>
          <p:nvPr/>
        </p:nvSpPr>
        <p:spPr>
          <a:xfrm>
            <a:off x="6350000" y="1955800"/>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3ECF6"/>
                </a:solidFill>
                <a:latin typeface="JetBrains Mono" pitchFamily="49" charset="0"/>
                <a:ea typeface="JetBrains Mono" pitchFamily="49" charset="-122"/>
                <a:cs typeface="JetBrains Mono" pitchFamily="49" charset="-120"/>
              </a:rPr>
              <a:t>DARK · SIGNIFICANT</a:t>
            </a:r>
            <a:endParaRPr lang="en-US" sz="1200" dirty="0"/>
          </a:p>
        </p:txBody>
      </p:sp>
      <p:sp>
        <p:nvSpPr>
          <p:cNvPr id="14" name="Text 12"/>
          <p:cNvSpPr/>
          <p:nvPr/>
        </p:nvSpPr>
        <p:spPr>
          <a:xfrm>
            <a:off x="6350000" y="2207264"/>
            <a:ext cx="2236851"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BFAF6"/>
                </a:solidFill>
                <a:latin typeface="Space Grotesk" pitchFamily="34" charset="0"/>
                <a:ea typeface="Space Grotesk" pitchFamily="34" charset="-122"/>
                <a:cs typeface="Space Grotesk" pitchFamily="34" charset="-120"/>
              </a:rPr>
              <a:t>+2.9</a:t>
            </a:r>
            <a:endParaRPr lang="en-US" sz="3600" dirty="0"/>
          </a:p>
        </p:txBody>
      </p:sp>
      <p:sp>
        <p:nvSpPr>
          <p:cNvPr id="15" name="Text 13"/>
          <p:cNvSpPr/>
          <p:nvPr/>
        </p:nvSpPr>
        <p:spPr>
          <a:xfrm>
            <a:off x="6350000" y="2748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IBM Plex Sans" pitchFamily="34" charset="0"/>
                <a:ea typeface="IBM Plex Sans" pitchFamily="34" charset="-122"/>
                <a:cs typeface="IBM Plex Sans" pitchFamily="34" charset="-120"/>
              </a:rPr>
              <a:t>PCK · APK +2.2</a:t>
            </a:r>
            <a:endParaRPr lang="en-US" sz="1200" dirty="0"/>
          </a:p>
        </p:txBody>
      </p:sp>
      <p:sp>
        <p:nvSpPr>
          <p:cNvPr id="16" name="Shape 14"/>
          <p:cNvSpPr/>
          <p:nvPr/>
        </p:nvSpPr>
        <p:spPr>
          <a:xfrm>
            <a:off x="8855075" y="1781175"/>
            <a:ext cx="2520950" cy="1365250"/>
          </a:xfrm>
          <a:prstGeom prst="roundRect">
            <a:avLst>
              <a:gd name="adj" fmla="val 7209"/>
            </a:avLst>
          </a:prstGeom>
          <a:solidFill>
            <a:srgbClr val="FBFAF6"/>
          </a:solidFill>
          <a:ln w="6350">
            <a:solidFill>
              <a:srgbClr val="E2DCD0"/>
            </a:solidFill>
            <a:prstDash val="solid"/>
          </a:ln>
        </p:spPr>
      </p:sp>
      <p:sp>
        <p:nvSpPr>
          <p:cNvPr id="17" name="Text 15"/>
          <p:cNvSpPr/>
          <p:nvPr/>
        </p:nvSpPr>
        <p:spPr>
          <a:xfrm>
            <a:off x="9034780" y="1960879"/>
            <a:ext cx="22263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A66"/>
                </a:solidFill>
                <a:latin typeface="JetBrains Mono" pitchFamily="49" charset="0"/>
                <a:ea typeface="JetBrains Mono" pitchFamily="49" charset="-122"/>
                <a:cs typeface="JetBrains Mono" pitchFamily="49" charset="-120"/>
              </a:rPr>
              <a:t>LOW CONTRAST · MODEST</a:t>
            </a:r>
            <a:endParaRPr lang="en-US" sz="1200" dirty="0"/>
          </a:p>
        </p:txBody>
      </p:sp>
      <p:sp>
        <p:nvSpPr>
          <p:cNvPr id="18" name="Text 16"/>
          <p:cNvSpPr/>
          <p:nvPr/>
        </p:nvSpPr>
        <p:spPr>
          <a:xfrm>
            <a:off x="9034780" y="2212342"/>
            <a:ext cx="2226386"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7212B"/>
                </a:solidFill>
                <a:latin typeface="Space Grotesk" pitchFamily="34" charset="0"/>
                <a:ea typeface="Space Grotesk" pitchFamily="34" charset="-122"/>
                <a:cs typeface="Space Grotesk" pitchFamily="34" charset="-120"/>
              </a:rPr>
              <a:t>+2.0</a:t>
            </a:r>
            <a:endParaRPr lang="en-US" sz="3600" dirty="0"/>
          </a:p>
        </p:txBody>
      </p:sp>
      <p:sp>
        <p:nvSpPr>
          <p:cNvPr id="19" name="Text 17"/>
          <p:cNvSpPr/>
          <p:nvPr/>
        </p:nvSpPr>
        <p:spPr>
          <a:xfrm>
            <a:off x="9034780" y="2753364"/>
            <a:ext cx="22263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PCK · APK +3.6</a:t>
            </a:r>
            <a:endParaRPr lang="en-US" sz="1200" dirty="0"/>
          </a:p>
        </p:txBody>
      </p:sp>
      <p:sp>
        <p:nvSpPr>
          <p:cNvPr id="20" name="Shape 18"/>
          <p:cNvSpPr/>
          <p:nvPr/>
        </p:nvSpPr>
        <p:spPr>
          <a:xfrm>
            <a:off x="812800" y="3352800"/>
            <a:ext cx="10566400" cy="1666240"/>
          </a:xfrm>
          <a:prstGeom prst="rect">
            <a:avLst/>
          </a:prstGeom>
          <a:solidFill>
            <a:srgbClr val="FBFAF6"/>
          </a:solidFill>
          <a:ln/>
        </p:spPr>
      </p:sp>
      <p:sp>
        <p:nvSpPr>
          <p:cNvPr id="21" name="Shape 19"/>
          <p:cNvSpPr/>
          <p:nvPr/>
        </p:nvSpPr>
        <p:spPr>
          <a:xfrm>
            <a:off x="11376025" y="3352800"/>
            <a:ext cx="0" cy="1666240"/>
          </a:xfrm>
          <a:prstGeom prst="line">
            <a:avLst/>
          </a:prstGeom>
          <a:noFill/>
          <a:ln w="6350">
            <a:solidFill>
              <a:srgbClr val="E2DCD0"/>
            </a:solidFill>
            <a:prstDash val="solid"/>
          </a:ln>
        </p:spPr>
      </p:sp>
      <p:sp>
        <p:nvSpPr>
          <p:cNvPr id="22" name="Shape 20"/>
          <p:cNvSpPr/>
          <p:nvPr/>
        </p:nvSpPr>
        <p:spPr>
          <a:xfrm>
            <a:off x="812800" y="5015865"/>
            <a:ext cx="10566400" cy="0"/>
          </a:xfrm>
          <a:prstGeom prst="line">
            <a:avLst/>
          </a:prstGeom>
          <a:noFill/>
          <a:ln w="6350">
            <a:solidFill>
              <a:srgbClr val="E2DCD0"/>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3362960"/>
          <a:ext cx="10551160" cy="1651000"/>
        </p:xfrm>
        <a:graphic>
          <a:graphicData uri="http://schemas.openxmlformats.org/drawingml/2006/table">
            <a:tbl>
              <a:tblPr/>
              <a:tblGrid>
                <a:gridCol w="1793697"/>
                <a:gridCol w="1371651"/>
                <a:gridCol w="1371651"/>
                <a:gridCol w="2532278"/>
                <a:gridCol w="1160628"/>
                <a:gridCol w="1160628"/>
                <a:gridCol w="1160628"/>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Condition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Base PCK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Full PCK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Δ PCK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Base APK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Full APK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algn="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Δ APK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Dark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75.51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78.37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+2.86 [+0.54, +5.03]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67.13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69.30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+2.17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Low contrast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74.76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76.80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+2.04 [−0.48, +4.22]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66.28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69.85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+3.57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Noise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68.78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74.76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+5.99 [+2.69, +9.12]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57.26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65.38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+8.12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Blur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68.91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75.71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+6.80 [+3.95, +10.07]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57.43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+10.71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bl>
          </a:graphicData>
        </a:graphic>
      </p:graphicFrame>
      <p:sp>
        <p:nvSpPr>
          <p:cNvPr id="24" name="Text 21"/>
          <p:cNvSpPr/>
          <p:nvPr/>
        </p:nvSpPr>
        <p:spPr>
          <a:xfrm>
            <a:off x="812800" y="522224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12B"/>
                </a:solidFill>
                <a:latin typeface="IBM Plex Sans" pitchFamily="34" charset="0"/>
                <a:ea typeface="IBM Plex Sans" pitchFamily="34" charset="-122"/>
                <a:cs typeface="IBM Plex Sans" pitchFamily="34" charset="-120"/>
              </a:rPr>
              <a:t>Dark and low contrast gain modestly, dark now significantly. </a:t>
            </a:r>
            <a:r>
              <a:rPr lang="en-US" sz="1300" b="1" dirty="0">
                <a:solidFill>
                  <a:srgbClr val="17212B"/>
                </a:solidFill>
                <a:latin typeface="IBM Plex Sans" pitchFamily="34" charset="0"/>
                <a:ea typeface="IBM Plex Sans" pitchFamily="34" charset="-122"/>
                <a:cs typeface="IBM Plex Sans" pitchFamily="34" charset="-120"/>
              </a:rPr>
              <a:t>Noise and blur gain the most</a:t>
            </a:r>
            <a:r>
              <a:rPr lang="en-US" sz="1300" dirty="0">
                <a:solidFill>
                  <a:srgbClr val="17212B"/>
                </a:solidFill>
                <a:latin typeface="IBM Plex Sans" pitchFamily="34" charset="0"/>
                <a:ea typeface="IBM Plex Sans" pitchFamily="34" charset="-122"/>
                <a:cs typeface="IBM Plex Sans" pitchFamily="34" charset="-120"/>
              </a:rPr>
              <a:t>, almost fully closing the gap to clean images.</a:t>
            </a:r>
            <a:endParaRPr lang="en-US" sz="1300" dirty="0"/>
          </a:p>
        </p:txBody>
      </p:sp>
      <p:sp>
        <p:nvSpPr>
          <p:cNvPr id="25" name="Text 2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26" name="Text 2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13 / MODEL OUTPUTS · 1 OF 3</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Model outputs: clean and dark images</a:t>
            </a:r>
            <a:endParaRPr lang="en-US" sz="3200" dirty="0"/>
          </a:p>
        </p:txBody>
      </p:sp>
      <p:sp>
        <p:nvSpPr>
          <p:cNvPr id="4" name="Text 2"/>
          <p:cNvSpPr/>
          <p:nvPr/>
        </p:nvSpPr>
        <p:spPr>
          <a:xfrm>
            <a:off x="812800" y="1727200"/>
            <a:ext cx="5486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12B"/>
                </a:solidFill>
                <a:latin typeface="JetBrains Mono" pitchFamily="49" charset="0"/>
                <a:ea typeface="JetBrains Mono" pitchFamily="49" charset="-122"/>
                <a:cs typeface="JetBrains Mono" pitchFamily="49" charset="-120"/>
              </a:rPr>
              <a:t>CLEAN</a:t>
            </a:r>
            <a:endParaRPr lang="en-US" sz="1200" dirty="0"/>
          </a:p>
        </p:txBody>
      </p:sp>
      <p:sp>
        <p:nvSpPr>
          <p:cNvPr id="5" name="Text 3"/>
          <p:cNvSpPr/>
          <p:nvPr/>
        </p:nvSpPr>
        <p:spPr>
          <a:xfrm>
            <a:off x="2432304" y="1727200"/>
            <a:ext cx="351129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top: baseline · bottom: enhanced</a:t>
            </a:r>
            <a:endParaRPr lang="en-US" sz="1200" dirty="0"/>
          </a:p>
        </p:txBody>
      </p:sp>
      <p:pic>
        <p:nvPicPr>
          <p:cNvPr id="6" name="Image 0" descr="Four clean held-out PARSE images: baseline FMP skeletons on top with PCK 100, 21, 79 and 100 percent; enhanced pipeline below with 79, 21, 79 and 100 percent">    </p:cNvPr>
          <p:cNvPicPr>
            <a:picLocks noChangeAspect="1"/>
          </p:cNvPicPr>
          <p:nvPr/>
        </p:nvPicPr>
        <p:blipFill>
          <a:blip r:embed="rId1"/>
          <a:srcRect l="-6416" r="-6416" t="0" b="0"/>
          <a:stretch/>
        </p:blipFill>
        <p:spPr>
          <a:xfrm>
            <a:off x="812800" y="1991364"/>
            <a:ext cx="5130800" cy="3543300"/>
          </a:xfrm>
          <a:prstGeom prst="rect">
            <a:avLst/>
          </a:prstGeom>
        </p:spPr>
      </p:pic>
      <p:sp>
        <p:nvSpPr>
          <p:cNvPr id="7" name="Text 4"/>
          <p:cNvSpPr/>
          <p:nvPr/>
        </p:nvSpPr>
        <p:spPr>
          <a:xfrm>
            <a:off x="6248400" y="1727200"/>
            <a:ext cx="4389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12B"/>
                </a:solidFill>
                <a:latin typeface="JetBrains Mono" pitchFamily="49" charset="0"/>
                <a:ea typeface="JetBrains Mono" pitchFamily="49" charset="-122"/>
                <a:cs typeface="JetBrains Mono" pitchFamily="49" charset="-120"/>
              </a:rPr>
              <a:t>DARK</a:t>
            </a:r>
            <a:endParaRPr lang="en-US" sz="1200" dirty="0"/>
          </a:p>
        </p:txBody>
      </p:sp>
      <p:sp>
        <p:nvSpPr>
          <p:cNvPr id="8" name="Text 5"/>
          <p:cNvSpPr/>
          <p:nvPr/>
        </p:nvSpPr>
        <p:spPr>
          <a:xfrm>
            <a:off x="7867904" y="1727200"/>
            <a:ext cx="351129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top: baseline · bottom: enhanced</a:t>
            </a:r>
            <a:endParaRPr lang="en-US" sz="1200" dirty="0"/>
          </a:p>
        </p:txBody>
      </p:sp>
      <p:pic>
        <p:nvPicPr>
          <p:cNvPr id="9" name="Image 1" descr="The same four images darkened: baseline PCK 100, 29, 71 and 100 percent; enhanced 86, 21, 79 and 100 percent">    </p:cNvPr>
          <p:cNvPicPr>
            <a:picLocks noChangeAspect="1"/>
          </p:cNvPicPr>
          <p:nvPr/>
        </p:nvPicPr>
        <p:blipFill>
          <a:blip r:embed="rId2"/>
          <a:srcRect l="-6416" r="-6416" t="0" b="0"/>
          <a:stretch/>
        </p:blipFill>
        <p:spPr>
          <a:xfrm>
            <a:off x="6248400" y="1991364"/>
            <a:ext cx="5130800" cy="3543300"/>
          </a:xfrm>
          <a:prstGeom prst="rect">
            <a:avLst/>
          </a:prstGeom>
        </p:spPr>
      </p:pic>
      <p:sp>
        <p:nvSpPr>
          <p:cNvPr id="10" name="Text 6"/>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1" name="Text 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13 / MODEL OUTPUTS · 2 OF 3</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Model outputs: low-contrast and noisy images</a:t>
            </a:r>
            <a:endParaRPr lang="en-US" sz="3200" dirty="0"/>
          </a:p>
        </p:txBody>
      </p:sp>
      <p:sp>
        <p:nvSpPr>
          <p:cNvPr id="4" name="Text 2"/>
          <p:cNvSpPr/>
          <p:nvPr/>
        </p:nvSpPr>
        <p:spPr>
          <a:xfrm>
            <a:off x="812800" y="1727200"/>
            <a:ext cx="131673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12B"/>
                </a:solidFill>
                <a:latin typeface="JetBrains Mono" pitchFamily="49" charset="0"/>
                <a:ea typeface="JetBrains Mono" pitchFamily="49" charset="-122"/>
                <a:cs typeface="JetBrains Mono" pitchFamily="49" charset="-120"/>
              </a:rPr>
              <a:t>LOW CONTRAST</a:t>
            </a:r>
            <a:endParaRPr lang="en-US" sz="1200" dirty="0"/>
          </a:p>
        </p:txBody>
      </p:sp>
      <p:sp>
        <p:nvSpPr>
          <p:cNvPr id="5" name="Text 3"/>
          <p:cNvSpPr/>
          <p:nvPr/>
        </p:nvSpPr>
        <p:spPr>
          <a:xfrm>
            <a:off x="2463800" y="1727200"/>
            <a:ext cx="3479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top: baseline · bottom: enhanced</a:t>
            </a:r>
            <a:endParaRPr lang="en-US" sz="1200" dirty="0"/>
          </a:p>
        </p:txBody>
      </p:sp>
      <p:pic>
        <p:nvPicPr>
          <p:cNvPr id="6" name="Image 0" descr="The four images at low contrast: baseline PCK 100, 21, 93 and 93 percent; enhanced 86, 21, 86 and 93 percent">    </p:cNvPr>
          <p:cNvPicPr>
            <a:picLocks noChangeAspect="1"/>
          </p:cNvPicPr>
          <p:nvPr/>
        </p:nvPicPr>
        <p:blipFill>
          <a:blip r:embed="rId1"/>
          <a:srcRect l="-6416" r="-6416" t="0" b="0"/>
          <a:stretch/>
        </p:blipFill>
        <p:spPr>
          <a:xfrm>
            <a:off x="812800" y="1991364"/>
            <a:ext cx="5130800" cy="3543300"/>
          </a:xfrm>
          <a:prstGeom prst="rect">
            <a:avLst/>
          </a:prstGeom>
        </p:spPr>
      </p:pic>
      <p:sp>
        <p:nvSpPr>
          <p:cNvPr id="7" name="Text 4"/>
          <p:cNvSpPr/>
          <p:nvPr/>
        </p:nvSpPr>
        <p:spPr>
          <a:xfrm>
            <a:off x="6248400" y="1727200"/>
            <a:ext cx="5486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12B"/>
                </a:solidFill>
                <a:latin typeface="JetBrains Mono" pitchFamily="49" charset="0"/>
                <a:ea typeface="JetBrains Mono" pitchFamily="49" charset="-122"/>
                <a:cs typeface="JetBrains Mono" pitchFamily="49" charset="-120"/>
              </a:rPr>
              <a:t>NOISE</a:t>
            </a:r>
            <a:endParaRPr lang="en-US" sz="1200" dirty="0"/>
          </a:p>
        </p:txBody>
      </p:sp>
      <p:sp>
        <p:nvSpPr>
          <p:cNvPr id="8" name="Text 5"/>
          <p:cNvSpPr/>
          <p:nvPr/>
        </p:nvSpPr>
        <p:spPr>
          <a:xfrm>
            <a:off x="7867904" y="1727200"/>
            <a:ext cx="351129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top: baseline · bottom: enhanced</a:t>
            </a:r>
            <a:endParaRPr lang="en-US" sz="1200" dirty="0"/>
          </a:p>
        </p:txBody>
      </p:sp>
      <p:pic>
        <p:nvPicPr>
          <p:cNvPr id="9" name="Image 1" descr="The four images with Gaussian noise: baseline PCK 86, 21, 79 and 100 percent; enhanced 86, 21, 93 and 100 percent, the guard in the booth now correctly posed">    </p:cNvPr>
          <p:cNvPicPr>
            <a:picLocks noChangeAspect="1"/>
          </p:cNvPicPr>
          <p:nvPr/>
        </p:nvPicPr>
        <p:blipFill>
          <a:blip r:embed="rId2"/>
          <a:srcRect l="-6416" r="-6416" t="0" b="0"/>
          <a:stretch/>
        </p:blipFill>
        <p:spPr>
          <a:xfrm>
            <a:off x="6248400" y="1991364"/>
            <a:ext cx="5130800" cy="3543300"/>
          </a:xfrm>
          <a:prstGeom prst="rect">
            <a:avLst/>
          </a:prstGeom>
        </p:spPr>
      </p:pic>
      <p:sp>
        <p:nvSpPr>
          <p:cNvPr id="10" name="Text 6"/>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1" name="Text 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13 / MODEL OUTPUTS · 3 OF 3</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Model outputs: blurred images</a:t>
            </a:r>
            <a:endParaRPr lang="en-US" sz="3200" dirty="0"/>
          </a:p>
        </p:txBody>
      </p:sp>
      <p:sp>
        <p:nvSpPr>
          <p:cNvPr id="4" name="Text 2"/>
          <p:cNvSpPr/>
          <p:nvPr/>
        </p:nvSpPr>
        <p:spPr>
          <a:xfrm>
            <a:off x="812800" y="1727200"/>
            <a:ext cx="4389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12B"/>
                </a:solidFill>
                <a:latin typeface="JetBrains Mono" pitchFamily="49" charset="0"/>
                <a:ea typeface="JetBrains Mono" pitchFamily="49" charset="-122"/>
                <a:cs typeface="JetBrains Mono" pitchFamily="49" charset="-120"/>
              </a:rPr>
              <a:t>BLUR</a:t>
            </a:r>
            <a:endParaRPr lang="en-US" sz="1200" dirty="0"/>
          </a:p>
        </p:txBody>
      </p:sp>
      <p:sp>
        <p:nvSpPr>
          <p:cNvPr id="5" name="Text 3"/>
          <p:cNvSpPr/>
          <p:nvPr/>
        </p:nvSpPr>
        <p:spPr>
          <a:xfrm>
            <a:off x="2432304" y="1727200"/>
            <a:ext cx="351129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top: baseline · bottom: enhanced</a:t>
            </a:r>
            <a:endParaRPr lang="en-US" sz="1200" dirty="0"/>
          </a:p>
        </p:txBody>
      </p:sp>
      <p:pic>
        <p:nvPicPr>
          <p:cNvPr id="6" name="Image 0" descr="The four images blurred: baseline PCK 100, 21, 100 and 100 percent; enhanced 93, 21, 100 and 93 percent">    </p:cNvPr>
          <p:cNvPicPr>
            <a:picLocks noChangeAspect="1"/>
          </p:cNvPicPr>
          <p:nvPr/>
        </p:nvPicPr>
        <p:blipFill>
          <a:blip r:embed="rId1"/>
          <a:srcRect l="-6416" r="-6416" t="0" b="0"/>
          <a:stretch/>
        </p:blipFill>
        <p:spPr>
          <a:xfrm>
            <a:off x="812800" y="1991358"/>
            <a:ext cx="5130800" cy="3543300"/>
          </a:xfrm>
          <a:prstGeom prst="rect">
            <a:avLst/>
          </a:prstGeom>
        </p:spPr>
      </p:pic>
      <p:sp>
        <p:nvSpPr>
          <p:cNvPr id="7" name="Shape 4"/>
          <p:cNvSpPr/>
          <p:nvPr/>
        </p:nvSpPr>
        <p:spPr>
          <a:xfrm>
            <a:off x="6251575" y="1997075"/>
            <a:ext cx="5124450" cy="1113790"/>
          </a:xfrm>
          <a:prstGeom prst="roundRect">
            <a:avLst>
              <a:gd name="adj" fmla="val 8837"/>
            </a:avLst>
          </a:prstGeom>
          <a:solidFill>
            <a:srgbClr val="FBFAF6"/>
          </a:solidFill>
          <a:ln w="6350">
            <a:solidFill>
              <a:srgbClr val="E2DCD0"/>
            </a:solidFill>
            <a:prstDash val="solid"/>
          </a:ln>
        </p:spPr>
      </p:sp>
      <p:sp>
        <p:nvSpPr>
          <p:cNvPr id="8" name="Text 5"/>
          <p:cNvSpPr/>
          <p:nvPr/>
        </p:nvSpPr>
        <p:spPr>
          <a:xfrm>
            <a:off x="6456680" y="2202185"/>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HOW THESE WERE CHOSEN</a:t>
            </a:r>
            <a:endParaRPr lang="en-US" sz="1400" dirty="0"/>
          </a:p>
        </p:txBody>
      </p:sp>
      <p:sp>
        <p:nvSpPr>
          <p:cNvPr id="9" name="Text 6"/>
          <p:cNvSpPr/>
          <p:nvPr/>
        </p:nvSpPr>
        <p:spPr>
          <a:xfrm>
            <a:off x="6456680" y="2479042"/>
            <a:ext cx="4855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Four held-out images (109, 146, 174, 182), drawn at random with a fixed seed. Not picked by result.</a:t>
            </a:r>
            <a:endParaRPr lang="en-US" sz="1200" dirty="0"/>
          </a:p>
        </p:txBody>
      </p:sp>
      <p:sp>
        <p:nvSpPr>
          <p:cNvPr id="10" name="Shape 7"/>
          <p:cNvSpPr/>
          <p:nvPr/>
        </p:nvSpPr>
        <p:spPr>
          <a:xfrm>
            <a:off x="6251575" y="3269617"/>
            <a:ext cx="5124450" cy="1113790"/>
          </a:xfrm>
          <a:prstGeom prst="roundRect">
            <a:avLst>
              <a:gd name="adj" fmla="val 8837"/>
            </a:avLst>
          </a:prstGeom>
          <a:solidFill>
            <a:srgbClr val="FBFAF6"/>
          </a:solidFill>
          <a:ln w="6350">
            <a:solidFill>
              <a:srgbClr val="E2DCD0"/>
            </a:solidFill>
            <a:prstDash val="solid"/>
          </a:ln>
        </p:spPr>
      </p:sp>
      <p:sp>
        <p:nvSpPr>
          <p:cNvPr id="11" name="Text 8"/>
          <p:cNvSpPr/>
          <p:nvPr/>
        </p:nvSpPr>
        <p:spPr>
          <a:xfrm>
            <a:off x="6456680" y="3474727"/>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Space Grotesk" pitchFamily="34" charset="0"/>
                <a:ea typeface="Space Grotesk" pitchFamily="34" charset="-122"/>
                <a:cs typeface="Space Grotesk" pitchFamily="34" charset="-120"/>
              </a:rPr>
              <a:t>WHAT THEY SHOW</a:t>
            </a:r>
            <a:endParaRPr lang="en-US" sz="1400" dirty="0"/>
          </a:p>
        </p:txBody>
      </p:sp>
      <p:sp>
        <p:nvSpPr>
          <p:cNvPr id="12" name="Text 9"/>
          <p:cNvSpPr/>
          <p:nvPr/>
        </p:nvSpPr>
        <p:spPr>
          <a:xfrm>
            <a:off x="6456680" y="3751585"/>
            <a:ext cx="4855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IBM Plex Sans" pitchFamily="34" charset="0"/>
                <a:ea typeface="IBM Plex Sans" pitchFamily="34" charset="-122"/>
                <a:cs typeface="IBM Plex Sans" pitchFamily="34" charset="-120"/>
              </a:rPr>
              <a:t>Single images go up or down by a joint or two. Gains only show up reliably as averages over many images.</a:t>
            </a:r>
            <a:endParaRPr lang="en-US" sz="1200" dirty="0"/>
          </a:p>
        </p:txBody>
      </p:sp>
      <p:sp>
        <p:nvSpPr>
          <p:cNvPr id="13" name="Shape 10"/>
          <p:cNvSpPr/>
          <p:nvPr/>
        </p:nvSpPr>
        <p:spPr>
          <a:xfrm>
            <a:off x="6251575" y="4542160"/>
            <a:ext cx="5124450" cy="900430"/>
          </a:xfrm>
          <a:prstGeom prst="roundRect">
            <a:avLst>
              <a:gd name="adj" fmla="val 10931"/>
            </a:avLst>
          </a:prstGeom>
          <a:solidFill>
            <a:srgbClr val="E3ECF6"/>
          </a:solidFill>
          <a:ln w="6350">
            <a:solidFill>
              <a:srgbClr val="BCD0E8"/>
            </a:solidFill>
            <a:prstDash val="solid"/>
          </a:ln>
        </p:spPr>
      </p:sp>
      <p:sp>
        <p:nvSpPr>
          <p:cNvPr id="14" name="Text 11"/>
          <p:cNvSpPr/>
          <p:nvPr/>
        </p:nvSpPr>
        <p:spPr>
          <a:xfrm>
            <a:off x="6456680" y="4747258"/>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4F87"/>
                </a:solidFill>
                <a:latin typeface="Space Grotesk" pitchFamily="34" charset="0"/>
                <a:ea typeface="Space Grotesk" pitchFamily="34" charset="-122"/>
                <a:cs typeface="Space Grotesk" pitchFamily="34" charset="-120"/>
              </a:rPr>
              <a:t>WHAT WE CLAIM</a:t>
            </a:r>
            <a:endParaRPr lang="en-US" sz="1400" dirty="0"/>
          </a:p>
        </p:txBody>
      </p:sp>
      <p:sp>
        <p:nvSpPr>
          <p:cNvPr id="15" name="Text 12"/>
          <p:cNvSpPr/>
          <p:nvPr/>
        </p:nvSpPr>
        <p:spPr>
          <a:xfrm>
            <a:off x="6456680" y="5024127"/>
            <a:ext cx="4916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Over all 105 held-out images: blur +6.8, noise +6.0, dark +2.9 PCK.</a:t>
            </a:r>
            <a:endParaRPr lang="en-US" sz="1200" dirty="0"/>
          </a:p>
        </p:txBody>
      </p:sp>
      <p:sp>
        <p:nvSpPr>
          <p:cNvPr id="16" name="Text 1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7"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E7D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14 / TAKEAWAYS</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What we learned</a:t>
            </a:r>
            <a:endParaRPr lang="en-US" sz="3200" dirty="0"/>
          </a:p>
        </p:txBody>
      </p:sp>
      <p:sp>
        <p:nvSpPr>
          <p:cNvPr id="4" name="Shape 2"/>
          <p:cNvSpPr/>
          <p:nvPr/>
        </p:nvSpPr>
        <p:spPr>
          <a:xfrm>
            <a:off x="812800" y="1879600"/>
            <a:ext cx="2527300" cy="2219960"/>
          </a:xfrm>
          <a:prstGeom prst="roundRect">
            <a:avLst>
              <a:gd name="adj" fmla="val 4577"/>
            </a:avLst>
          </a:prstGeom>
          <a:solidFill>
            <a:srgbClr val="FBFAF6"/>
          </a:solidFill>
          <a:ln/>
        </p:spPr>
      </p:sp>
      <p:sp>
        <p:nvSpPr>
          <p:cNvPr id="5" name="Text 3"/>
          <p:cNvSpPr/>
          <p:nvPr/>
        </p:nvSpPr>
        <p:spPr>
          <a:xfrm>
            <a:off x="1016000" y="2082800"/>
            <a:ext cx="21845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4472E"/>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16000" y="2641600"/>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Space Grotesk" pitchFamily="34" charset="0"/>
                <a:ea typeface="Space Grotesk" pitchFamily="34" charset="-122"/>
                <a:cs typeface="Space Grotesk" pitchFamily="34" charset="-120"/>
              </a:rPr>
              <a:t>CLEAN IMAGES</a:t>
            </a:r>
            <a:endParaRPr lang="en-US" sz="1500" dirty="0"/>
          </a:p>
        </p:txBody>
      </p:sp>
      <p:sp>
        <p:nvSpPr>
          <p:cNvPr id="7" name="Text 5"/>
          <p:cNvSpPr/>
          <p:nvPr/>
        </p:nvSpPr>
        <p:spPr>
          <a:xfrm>
            <a:off x="1016000" y="2971800"/>
            <a:ext cx="218452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Do no harm. The full pipeline adds +1.2 PCK and +1.9 APK on clean images.</a:t>
            </a:r>
            <a:endParaRPr lang="en-US" sz="1300" dirty="0"/>
          </a:p>
        </p:txBody>
      </p:sp>
      <p:sp>
        <p:nvSpPr>
          <p:cNvPr id="8" name="Shape 6"/>
          <p:cNvSpPr/>
          <p:nvPr/>
        </p:nvSpPr>
        <p:spPr>
          <a:xfrm>
            <a:off x="3492500" y="1879600"/>
            <a:ext cx="2527300" cy="2219960"/>
          </a:xfrm>
          <a:prstGeom prst="roundRect">
            <a:avLst>
              <a:gd name="adj" fmla="val 4577"/>
            </a:avLst>
          </a:prstGeom>
          <a:solidFill>
            <a:srgbClr val="FBFAF6"/>
          </a:solidFill>
          <a:ln/>
        </p:spPr>
      </p:sp>
      <p:sp>
        <p:nvSpPr>
          <p:cNvPr id="9" name="Text 7"/>
          <p:cNvSpPr/>
          <p:nvPr/>
        </p:nvSpPr>
        <p:spPr>
          <a:xfrm>
            <a:off x="3695700" y="2082800"/>
            <a:ext cx="21845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4472E"/>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3695700" y="2641600"/>
            <a:ext cx="23241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Space Grotesk" pitchFamily="34" charset="0"/>
                <a:ea typeface="Space Grotesk" pitchFamily="34" charset="-122"/>
                <a:cs typeface="Space Grotesk" pitchFamily="34" charset="-120"/>
              </a:rPr>
              <a:t>DARK &amp; LOW CONTRAST</a:t>
            </a:r>
            <a:endParaRPr lang="en-US" sz="1500" dirty="0"/>
          </a:p>
        </p:txBody>
      </p:sp>
      <p:sp>
        <p:nvSpPr>
          <p:cNvPr id="11" name="Text 9"/>
          <p:cNvSpPr/>
          <p:nvPr/>
        </p:nvSpPr>
        <p:spPr>
          <a:xfrm>
            <a:off x="3695700" y="2971800"/>
            <a:ext cx="21845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HOG already normalises contrast. Gamma plus voting gives +2.9 PCK on dark images.</a:t>
            </a:r>
            <a:endParaRPr lang="en-US" sz="1300" dirty="0"/>
          </a:p>
        </p:txBody>
      </p:sp>
      <p:sp>
        <p:nvSpPr>
          <p:cNvPr id="12" name="Shape 10"/>
          <p:cNvSpPr/>
          <p:nvPr/>
        </p:nvSpPr>
        <p:spPr>
          <a:xfrm>
            <a:off x="6172200" y="1879600"/>
            <a:ext cx="2527300" cy="2219960"/>
          </a:xfrm>
          <a:prstGeom prst="roundRect">
            <a:avLst>
              <a:gd name="adj" fmla="val 4577"/>
            </a:avLst>
          </a:prstGeom>
          <a:solidFill>
            <a:srgbClr val="FBFAF6"/>
          </a:solidFill>
          <a:ln/>
        </p:spPr>
      </p:sp>
      <p:sp>
        <p:nvSpPr>
          <p:cNvPr id="13" name="Text 11"/>
          <p:cNvSpPr/>
          <p:nvPr/>
        </p:nvSpPr>
        <p:spPr>
          <a:xfrm>
            <a:off x="6375400" y="2082800"/>
            <a:ext cx="21845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D6CB5"/>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6375400" y="2641600"/>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Space Grotesk" pitchFamily="34" charset="0"/>
                <a:ea typeface="Space Grotesk" pitchFamily="34" charset="-122"/>
                <a:cs typeface="Space Grotesk" pitchFamily="34" charset="-120"/>
              </a:rPr>
              <a:t>NOISE &amp; BLUR</a:t>
            </a:r>
            <a:endParaRPr lang="en-US" sz="1500" dirty="0"/>
          </a:p>
        </p:txBody>
      </p:sp>
      <p:sp>
        <p:nvSpPr>
          <p:cNvPr id="15" name="Text 13"/>
          <p:cNvSpPr/>
          <p:nvPr/>
        </p:nvSpPr>
        <p:spPr>
          <a:xfrm>
            <a:off x="6375400" y="2971800"/>
            <a:ext cx="21845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The right operator matters: non-local means and deconvolution lead to +6.0 and +6.8 PCK.</a:t>
            </a:r>
            <a:endParaRPr lang="en-US" sz="1300" dirty="0"/>
          </a:p>
        </p:txBody>
      </p:sp>
      <p:sp>
        <p:nvSpPr>
          <p:cNvPr id="16" name="Shape 14"/>
          <p:cNvSpPr/>
          <p:nvPr/>
        </p:nvSpPr>
        <p:spPr>
          <a:xfrm>
            <a:off x="8851900" y="1879600"/>
            <a:ext cx="2527300" cy="2219960"/>
          </a:xfrm>
          <a:prstGeom prst="roundRect">
            <a:avLst>
              <a:gd name="adj" fmla="val 4577"/>
            </a:avLst>
          </a:prstGeom>
          <a:solidFill>
            <a:srgbClr val="FBFAF6"/>
          </a:solidFill>
          <a:ln/>
        </p:spPr>
      </p:sp>
      <p:sp>
        <p:nvSpPr>
          <p:cNvPr id="17" name="Text 15"/>
          <p:cNvSpPr/>
          <p:nvPr/>
        </p:nvSpPr>
        <p:spPr>
          <a:xfrm>
            <a:off x="9055100" y="2082800"/>
            <a:ext cx="21845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4472E"/>
                </a:solidFill>
                <a:latin typeface="Space Grotesk" pitchFamily="34" charset="0"/>
                <a:ea typeface="Space Grotesk" pitchFamily="34" charset="-122"/>
                <a:cs typeface="Space Grotesk" pitchFamily="34" charset="-120"/>
              </a:rPr>
              <a:t>4</a:t>
            </a:r>
            <a:endParaRPr lang="en-US" sz="3600" dirty="0"/>
          </a:p>
        </p:txBody>
      </p:sp>
      <p:sp>
        <p:nvSpPr>
          <p:cNvPr id="18" name="Text 16"/>
          <p:cNvSpPr/>
          <p:nvPr/>
        </p:nvSpPr>
        <p:spPr>
          <a:xfrm>
            <a:off x="9055100" y="2641600"/>
            <a:ext cx="2184527"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Space Grotesk" pitchFamily="34" charset="0"/>
                <a:ea typeface="Space Grotesk" pitchFamily="34" charset="-122"/>
                <a:cs typeface="Space Grotesk" pitchFamily="34" charset="-120"/>
              </a:rPr>
              <a:t>ONE RULE IS NOT ENOUGH</a:t>
            </a:r>
            <a:endParaRPr lang="en-US" sz="1500" dirty="0"/>
          </a:p>
        </p:txBody>
      </p:sp>
      <p:sp>
        <p:nvSpPr>
          <p:cNvPr id="19" name="Text 17"/>
          <p:cNvSpPr/>
          <p:nvPr/>
        </p:nvSpPr>
        <p:spPr>
          <a:xfrm>
            <a:off x="9055100" y="3200400"/>
            <a:ext cx="218452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A66"/>
                </a:solidFill>
                <a:latin typeface="IBM Plex Sans" pitchFamily="34" charset="0"/>
                <a:ea typeface="IBM Plex Sans" pitchFamily="34" charset="-122"/>
                <a:cs typeface="IBM Plex Sans" pitchFamily="34" charset="-120"/>
              </a:rPr>
              <a:t>Measure each image, apply one fix, and test on images you never tuned on.</a:t>
            </a:r>
            <a:endParaRPr lang="en-US" sz="1300" dirty="0"/>
          </a:p>
        </p:txBody>
      </p:sp>
      <p:sp>
        <p:nvSpPr>
          <p:cNvPr id="20" name="Text 18"/>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21" name="Text 19"/>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15 / ROADMAP</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Completed work and next steps</a:t>
            </a:r>
            <a:endParaRPr lang="en-US" sz="3200" dirty="0"/>
          </a:p>
        </p:txBody>
      </p:sp>
      <p:sp>
        <p:nvSpPr>
          <p:cNvPr id="4" name="Shape 2"/>
          <p:cNvSpPr/>
          <p:nvPr/>
        </p:nvSpPr>
        <p:spPr>
          <a:xfrm>
            <a:off x="812800" y="1803400"/>
            <a:ext cx="10566400" cy="3200400"/>
          </a:xfrm>
          <a:prstGeom prst="rect">
            <a:avLst/>
          </a:prstGeom>
          <a:solidFill>
            <a:srgbClr val="FBFAF6"/>
          </a:solidFill>
          <a:ln/>
        </p:spPr>
      </p:sp>
      <p:sp>
        <p:nvSpPr>
          <p:cNvPr id="5" name="Shape 3"/>
          <p:cNvSpPr/>
          <p:nvPr/>
        </p:nvSpPr>
        <p:spPr>
          <a:xfrm>
            <a:off x="11376025" y="1803400"/>
            <a:ext cx="0" cy="3200400"/>
          </a:xfrm>
          <a:prstGeom prst="line">
            <a:avLst/>
          </a:prstGeom>
          <a:noFill/>
          <a:ln w="6350">
            <a:solidFill>
              <a:srgbClr val="E2DCD0"/>
            </a:solidFill>
            <a:prstDash val="solid"/>
          </a:ln>
        </p:spPr>
      </p:sp>
      <p:sp>
        <p:nvSpPr>
          <p:cNvPr id="6" name="Shape 4"/>
          <p:cNvSpPr/>
          <p:nvPr/>
        </p:nvSpPr>
        <p:spPr>
          <a:xfrm>
            <a:off x="812800" y="5000625"/>
            <a:ext cx="10566400" cy="0"/>
          </a:xfrm>
          <a:prstGeom prst="line">
            <a:avLst/>
          </a:prstGeom>
          <a:noFill/>
          <a:ln w="6350">
            <a:solidFill>
              <a:srgbClr val="E2DC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1160" cy="3185160"/>
        </p:xfrm>
        <a:graphic>
          <a:graphicData uri="http://schemas.openxmlformats.org/drawingml/2006/table">
            <a:tbl>
              <a:tblPr/>
              <a:tblGrid>
                <a:gridCol w="1266139"/>
                <a:gridCol w="5064557"/>
                <a:gridCol w="1793697"/>
                <a:gridCol w="2426767"/>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Phase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Mid-review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Quality analysis, gamma and contrast, first 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Completed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Flat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Noise handling: non-local-means denoising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Completed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+6.0 PCK on noise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Blur handling: Richardson-Lucy deconvolution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Completed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+6.8 PCK on blur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Ablation: baseline → adaptive HOG → preprocess → flip + vote → refine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Completed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Per-stage 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Adaptive HOG (needs FMP retraining)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Investigated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 change (±0.1)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Pose refinement and part-consistent voting for weak joints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Completed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Clean +1.2 PCK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Final evaluation: 5 conditions, APK, PCK, joints, runtime, BUFFY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Completed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BUFFY +1.7 PCK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7DE"/>
                    </a:solidFill>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Retrain FMP with adaptive HOG; real-world blur with estimated PSF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7DE"/>
                    </a:solidFill>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Future 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7DE"/>
                    </a:solidFill>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7DE"/>
                    </a:solidFill>
                  </a:tcPr>
                </a:tc>
              </a:tr>
            </a:tbl>
          </a:graphicData>
        </a:graphic>
      </p:graphicFrame>
      <p:sp>
        <p:nvSpPr>
          <p:cNvPr id="8" name="Text 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72E"/>
                </a:solidFill>
                <a:latin typeface="JetBrains Mono" pitchFamily="49" charset="0"/>
                <a:ea typeface="JetBrains Mono" pitchFamily="49" charset="-122"/>
                <a:cs typeface="JetBrains Mono" pitchFamily="49" charset="-120"/>
              </a:rPr>
              <a:t>16 / ABSTRACT CHECK</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12B"/>
                </a:solidFill>
                <a:latin typeface="Space Grotesk" pitchFamily="34" charset="0"/>
                <a:ea typeface="Space Grotesk" pitchFamily="34" charset="-122"/>
                <a:cs typeface="Space Grotesk" pitchFamily="34" charset="-120"/>
              </a:rPr>
              <a:t>What the abstract promised</a:t>
            </a:r>
            <a:endParaRPr lang="en-US" sz="3200" dirty="0"/>
          </a:p>
        </p:txBody>
      </p:sp>
      <p:sp>
        <p:nvSpPr>
          <p:cNvPr id="4" name="Shape 2"/>
          <p:cNvSpPr/>
          <p:nvPr/>
        </p:nvSpPr>
        <p:spPr>
          <a:xfrm>
            <a:off x="812800" y="1803400"/>
            <a:ext cx="10566400" cy="3647440"/>
          </a:xfrm>
          <a:prstGeom prst="rect">
            <a:avLst/>
          </a:prstGeom>
          <a:solidFill>
            <a:srgbClr val="FBFAF6"/>
          </a:solidFill>
          <a:ln/>
        </p:spPr>
      </p:sp>
      <p:sp>
        <p:nvSpPr>
          <p:cNvPr id="5" name="Shape 3"/>
          <p:cNvSpPr/>
          <p:nvPr/>
        </p:nvSpPr>
        <p:spPr>
          <a:xfrm>
            <a:off x="11376025" y="1803400"/>
            <a:ext cx="0" cy="3647440"/>
          </a:xfrm>
          <a:prstGeom prst="line">
            <a:avLst/>
          </a:prstGeom>
          <a:noFill/>
          <a:ln w="6350">
            <a:solidFill>
              <a:srgbClr val="E2DCD0"/>
            </a:solidFill>
            <a:prstDash val="solid"/>
          </a:ln>
        </p:spPr>
      </p:sp>
      <p:sp>
        <p:nvSpPr>
          <p:cNvPr id="6" name="Shape 4"/>
          <p:cNvSpPr/>
          <p:nvPr/>
        </p:nvSpPr>
        <p:spPr>
          <a:xfrm>
            <a:off x="812800" y="5447665"/>
            <a:ext cx="10566400" cy="0"/>
          </a:xfrm>
          <a:prstGeom prst="line">
            <a:avLst/>
          </a:prstGeom>
          <a:noFill/>
          <a:ln w="6350">
            <a:solidFill>
              <a:srgbClr val="E2DC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1160" cy="3632200"/>
        </p:xfrm>
        <a:graphic>
          <a:graphicData uri="http://schemas.openxmlformats.org/drawingml/2006/table">
            <a:tbl>
              <a:tblPr/>
              <a:tblGrid>
                <a:gridCol w="2743302"/>
                <a:gridCol w="5908650"/>
                <a:gridCol w="1899209"/>
              </a:tblGrid>
              <a:tr h="330200">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Abstract item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What we did and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c>
                  <a:txBody>
                    <a:bodyPr/>
                    <a:lstStyle/>
                    <a:p>
                      <a:pPr indent="0" marL="0">
                        <a:lnSpc>
                          <a:spcPts val="1680"/>
                        </a:lnSpc>
                        <a:buNone/>
                      </a:pPr>
                      <a:r>
                        <a:rPr lang="en-US" sz="1200" b="1" dirty="0">
                          <a:solidFill>
                            <a:srgbClr val="F5F2EC"/>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E26"/>
                      </a:solidFill>
                      <a:prstDash val="solid"/>
                      <a:round/>
                      <a:headEnd type="none" w="med" len="med"/>
                      <a:tailEnd type="none" w="med" len="med"/>
                    </a:lnL>
                    <a:lnR w="12700" cap="flat" cmpd="sng" algn="ctr">
                      <a:solidFill>
                        <a:srgbClr val="161E2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E26"/>
                      </a:solidFill>
                      <a:prstDash val="solid"/>
                      <a:round/>
                      <a:headEnd type="none" w="med" len="med"/>
                      <a:tailEnd type="none" w="med" len="med"/>
                    </a:lnB>
                    <a:solidFill>
                      <a:srgbClr val="17212B"/>
                    </a:solidFill>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Image-quality analysis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Brightness, contrast, Immerkær noise σ, sharpness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E2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CLAHE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−0.5 PCK on every image; +0.1 on low contrast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Tested, not adopted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Gamma correction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Gamma 0.67 on dark images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Denoising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Non-local means (+3.3) beat the bilateral filter (+1.7)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Detail enhancement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Richardson-Lucy deblurring beat sharpening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Adaptive HOG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Weighted HOG ±0.1, denser pyramid +0.1; bins need retraining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B4472E"/>
                          </a:solidFill>
                          <a:latin typeface="IBM Plex Sans" pitchFamily="34" charset="0"/>
                          <a:ea typeface="IBM Plex Sans" pitchFamily="34" charset="-122"/>
                          <a:cs typeface="IBM Plex Sans" pitchFamily="34" charset="-120"/>
                        </a:rPr>
                        <a:t>Investigated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Original FMP unchanged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Same pretrained model and inference throughout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Pose refinement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Bone bounds, symmetry, part-consistent voting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PARSE, BUFFY, PCK, APK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Both metrics up in every condition, on both datasets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Low computational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About 1.3 s → 2.4 s per image, CPU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680"/>
                        </a:lnSpc>
                        <a:buNone/>
                      </a:pPr>
                      <a:r>
                        <a:rPr lang="en-US" sz="1200" dirty="0">
                          <a:solidFill>
                            <a:srgbClr val="2D6CB5"/>
                          </a:solidFill>
                          <a:latin typeface="IBM Plex Sans" pitchFamily="34" charset="0"/>
                          <a:ea typeface="IBM Plex Sans" pitchFamily="34" charset="-122"/>
                          <a:cs typeface="IBM Plex Sans" pitchFamily="34" charset="-120"/>
                        </a:rPr>
                        <a:t>Delivered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8" name="Text 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6"/>
                </a:solidFill>
                <a:latin typeface="JetBrains Mono" pitchFamily="49" charset="0"/>
                <a:ea typeface="JetBrains Mono" pitchFamily="49" charset="-122"/>
                <a:cs typeface="JetBrains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21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37A"/>
                </a:solidFill>
                <a:latin typeface="JetBrains Mono" pitchFamily="49" charset="0"/>
                <a:ea typeface="JetBrains Mono" pitchFamily="49" charset="-122"/>
                <a:cs typeface="JetBrains Mono" pitchFamily="49" charset="-120"/>
              </a:rPr>
              <a:t>17 / CONCLUSION</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2EC"/>
                </a:solidFill>
                <a:latin typeface="Space Grotesk" pitchFamily="34" charset="0"/>
                <a:ea typeface="Space Grotesk" pitchFamily="34" charset="-122"/>
                <a:cs typeface="Space Grotesk" pitchFamily="34" charset="-120"/>
              </a:rPr>
              <a:t>Conclusion</a:t>
            </a:r>
            <a:endParaRPr lang="en-US" sz="3200" dirty="0"/>
          </a:p>
        </p:txBody>
      </p:sp>
      <p:sp>
        <p:nvSpPr>
          <p:cNvPr id="4" name="Text 2"/>
          <p:cNvSpPr/>
          <p:nvPr/>
        </p:nvSpPr>
        <p:spPr>
          <a:xfrm>
            <a:off x="812800" y="1828800"/>
            <a:ext cx="7011416"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5F2EC"/>
                </a:solidFill>
                <a:latin typeface="Space Grotesk" pitchFamily="34" charset="0"/>
                <a:ea typeface="Space Grotesk" pitchFamily="34" charset="-122"/>
                <a:cs typeface="Space Grotesk" pitchFamily="34" charset="-120"/>
              </a:rPr>
              <a:t>Adaptive preprocessing was the experiment. Held-out evaluation says it works where images are degraded.</a:t>
            </a:r>
            <a:endParaRPr lang="en-US" sz="2000" dirty="0"/>
          </a:p>
        </p:txBody>
      </p:sp>
      <p:pic>
        <p:nvPicPr>
          <p:cNvPr id="5" name="Image 0" descr="CheckCircle">    </p:cNvPr>
          <p:cNvPicPr>
            <a:picLocks noChangeAspect="1"/>
          </p:cNvPicPr>
          <p:nvPr/>
        </p:nvPicPr>
        <p:blipFill>
          <a:blip r:embed="rId1"/>
          <a:srcRect l="0" r="0" t="0" b="0"/>
          <a:stretch/>
        </p:blipFill>
        <p:spPr>
          <a:xfrm>
            <a:off x="812800" y="2655577"/>
            <a:ext cx="203200" cy="203200"/>
          </a:xfrm>
          <a:prstGeom prst="rect">
            <a:avLst/>
          </a:prstGeom>
        </p:spPr>
      </p:pic>
      <p:sp>
        <p:nvSpPr>
          <p:cNvPr id="6" name="Text 3"/>
          <p:cNvSpPr/>
          <p:nvPr/>
        </p:nvSpPr>
        <p:spPr>
          <a:xfrm>
            <a:off x="1117600" y="2641600"/>
            <a:ext cx="496690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9EC"/>
                </a:solidFill>
                <a:latin typeface="IBM Plex Sans" pitchFamily="34" charset="0"/>
                <a:ea typeface="IBM Plex Sans" pitchFamily="34" charset="-122"/>
                <a:cs typeface="IBM Plex Sans" pitchFamily="34" charset="-120"/>
              </a:rPr>
              <a:t>Classical FMP retained: model and inference unchanged</a:t>
            </a:r>
            <a:endParaRPr lang="en-US" sz="1300" dirty="0"/>
          </a:p>
        </p:txBody>
      </p:sp>
      <p:pic>
        <p:nvPicPr>
          <p:cNvPr id="7" name="Image 1" descr="CheckCircle">    </p:cNvPr>
          <p:cNvPicPr>
            <a:picLocks noChangeAspect="1"/>
          </p:cNvPicPr>
          <p:nvPr/>
        </p:nvPicPr>
        <p:blipFill>
          <a:blip r:embed="rId2"/>
          <a:srcRect l="0" r="0" t="0" b="0"/>
          <a:stretch/>
        </p:blipFill>
        <p:spPr>
          <a:xfrm>
            <a:off x="812800" y="2975608"/>
            <a:ext cx="203200" cy="203200"/>
          </a:xfrm>
          <a:prstGeom prst="rect">
            <a:avLst/>
          </a:prstGeom>
        </p:spPr>
      </p:pic>
      <p:sp>
        <p:nvSpPr>
          <p:cNvPr id="8" name="Text 4"/>
          <p:cNvSpPr/>
          <p:nvPr/>
        </p:nvSpPr>
        <p:spPr>
          <a:xfrm>
            <a:off x="1117600" y="2961642"/>
            <a:ext cx="45785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9EC"/>
                </a:solidFill>
                <a:latin typeface="IBM Plex Sans" pitchFamily="34" charset="0"/>
                <a:ea typeface="IBM Plex Sans" pitchFamily="34" charset="-122"/>
                <a:cs typeface="IBM Plex Sans" pitchFamily="34" charset="-120"/>
              </a:rPr>
              <a:t>Quality analysis and gated restoration implemented</a:t>
            </a:r>
            <a:endParaRPr lang="en-US" sz="1300" dirty="0"/>
          </a:p>
        </p:txBody>
      </p:sp>
      <p:pic>
        <p:nvPicPr>
          <p:cNvPr id="9" name="Image 2" descr="CheckCircle">    </p:cNvPr>
          <p:cNvPicPr>
            <a:picLocks noChangeAspect="1"/>
          </p:cNvPicPr>
          <p:nvPr/>
        </p:nvPicPr>
        <p:blipFill>
          <a:blip r:embed="rId3"/>
          <a:srcRect l="0" r="0" t="0" b="0"/>
          <a:stretch/>
        </p:blipFill>
        <p:spPr>
          <a:xfrm>
            <a:off x="812800" y="3295650"/>
            <a:ext cx="203200" cy="203200"/>
          </a:xfrm>
          <a:prstGeom prst="rect">
            <a:avLst/>
          </a:prstGeom>
        </p:spPr>
      </p:pic>
      <p:sp>
        <p:nvSpPr>
          <p:cNvPr id="10" name="Text 5"/>
          <p:cNvSpPr/>
          <p:nvPr/>
        </p:nvSpPr>
        <p:spPr>
          <a:xfrm>
            <a:off x="1117600" y="3281685"/>
            <a:ext cx="51246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9EC"/>
                </a:solidFill>
                <a:latin typeface="IBM Plex Sans" pitchFamily="34" charset="0"/>
                <a:ea typeface="IBM Plex Sans" pitchFamily="34" charset="-122"/>
                <a:cs typeface="IBM Plex Sans" pitchFamily="34" charset="-120"/>
              </a:rPr>
              <a:t>Noise +6.0, blur +6.8, dark +2.9 PCK, intervals above zero</a:t>
            </a:r>
            <a:endParaRPr lang="en-US" sz="1300" dirty="0"/>
          </a:p>
        </p:txBody>
      </p:sp>
      <p:pic>
        <p:nvPicPr>
          <p:cNvPr id="11" name="Image 3" descr="CheckCircle">    </p:cNvPr>
          <p:cNvPicPr>
            <a:picLocks noChangeAspect="1"/>
          </p:cNvPicPr>
          <p:nvPr/>
        </p:nvPicPr>
        <p:blipFill>
          <a:blip r:embed="rId4"/>
          <a:srcRect l="0" r="0" t="0" b="0"/>
          <a:stretch/>
        </p:blipFill>
        <p:spPr>
          <a:xfrm>
            <a:off x="812800" y="3615692"/>
            <a:ext cx="203200" cy="203200"/>
          </a:xfrm>
          <a:prstGeom prst="rect">
            <a:avLst/>
          </a:prstGeom>
        </p:spPr>
      </p:pic>
      <p:sp>
        <p:nvSpPr>
          <p:cNvPr id="12" name="Text 6"/>
          <p:cNvSpPr/>
          <p:nvPr/>
        </p:nvSpPr>
        <p:spPr>
          <a:xfrm>
            <a:off x="1117600" y="3601727"/>
            <a:ext cx="55164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9EC"/>
                </a:solidFill>
                <a:latin typeface="IBM Plex Sans" pitchFamily="34" charset="0"/>
                <a:ea typeface="IBM Plex Sans" pitchFamily="34" charset="-122"/>
                <a:cs typeface="IBM Plex Sans" pitchFamily="34" charset="-120"/>
              </a:rPr>
              <a:t>Every condition positive, clean +1.2; BUFFY +1.7 PCK untuned</a:t>
            </a:r>
            <a:endParaRPr lang="en-US" sz="1300" dirty="0"/>
          </a:p>
        </p:txBody>
      </p:sp>
      <p:pic>
        <p:nvPicPr>
          <p:cNvPr id="13" name="Image 4" descr="CheckCircle">    </p:cNvPr>
          <p:cNvPicPr>
            <a:picLocks noChangeAspect="1"/>
          </p:cNvPicPr>
          <p:nvPr/>
        </p:nvPicPr>
        <p:blipFill>
          <a:blip r:embed="rId5"/>
          <a:srcRect l="0" r="0" t="0" b="0"/>
          <a:stretch/>
        </p:blipFill>
        <p:spPr>
          <a:xfrm>
            <a:off x="812800" y="3935735"/>
            <a:ext cx="203200" cy="203200"/>
          </a:xfrm>
          <a:prstGeom prst="rect">
            <a:avLst/>
          </a:prstGeom>
        </p:spPr>
      </p:pic>
      <p:sp>
        <p:nvSpPr>
          <p:cNvPr id="14" name="Text 7"/>
          <p:cNvSpPr/>
          <p:nvPr/>
        </p:nvSpPr>
        <p:spPr>
          <a:xfrm>
            <a:off x="1117600" y="3921758"/>
            <a:ext cx="4279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9EC"/>
                </a:solidFill>
                <a:latin typeface="IBM Plex Sans" pitchFamily="34" charset="0"/>
                <a:ea typeface="IBM Plex Sans" pitchFamily="34" charset="-122"/>
                <a:cs typeface="IBM Plex Sans" pitchFamily="34" charset="-120"/>
              </a:rPr>
              <a:t>About 1.3 s → 2.4 s per image on a CPU, no GPU</a:t>
            </a:r>
            <a:endParaRPr lang="en-US" sz="1300" dirty="0"/>
          </a:p>
        </p:txBody>
      </p:sp>
      <p:sp>
        <p:nvSpPr>
          <p:cNvPr id="15" name="Shape 8"/>
          <p:cNvSpPr/>
          <p:nvPr/>
        </p:nvSpPr>
        <p:spPr>
          <a:xfrm>
            <a:off x="7937500" y="1828800"/>
            <a:ext cx="3429000" cy="2921000"/>
          </a:xfrm>
          <a:prstGeom prst="roundRect">
            <a:avLst>
              <a:gd name="adj" fmla="val 5217"/>
            </a:avLst>
          </a:prstGeom>
          <a:solidFill>
            <a:srgbClr val="F5F2EC"/>
          </a:solidFill>
          <a:ln/>
        </p:spPr>
      </p:sp>
      <p:pic>
        <p:nvPicPr>
          <p:cNvPr id="16" name="Image 5" descr="Skeleton predicted by the enhanced pipeline on a tennis player">    </p:cNvPr>
          <p:cNvPicPr>
            <a:picLocks noChangeAspect="1"/>
          </p:cNvPicPr>
          <p:nvPr/>
        </p:nvPicPr>
        <p:blipFill>
          <a:blip r:embed="rId6"/>
          <a:srcRect l="-37779" r="-37779" t="0" b="0"/>
          <a:stretch/>
        </p:blipFill>
        <p:spPr>
          <a:xfrm>
            <a:off x="8064500" y="1955800"/>
            <a:ext cx="3175000" cy="2667000"/>
          </a:xfrm>
          <a:prstGeom prst="rect">
            <a:avLst/>
          </a:prstGeom>
        </p:spPr>
      </p:pic>
      <p:sp>
        <p:nvSpPr>
          <p:cNvPr id="17" name="Text 9"/>
          <p:cNvSpPr/>
          <p:nvPr/>
        </p:nvSpPr>
        <p:spPr>
          <a:xfrm>
            <a:off x="7839964" y="4851400"/>
            <a:ext cx="3624072" cy="23876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F2937A"/>
                </a:solidFill>
                <a:latin typeface="JetBrains Mono" pitchFamily="49" charset="0"/>
                <a:ea typeface="JetBrains Mono" pitchFamily="49" charset="-122"/>
                <a:cs typeface="JetBrains Mono" pitchFamily="49" charset="-120"/>
              </a:rPr>
              <a:t>CLASSICAL FMP, ENHANCED INPUT</a:t>
            </a:r>
            <a:endParaRPr lang="en-US" sz="1200" dirty="0"/>
          </a:p>
        </p:txBody>
      </p:sp>
      <p:sp>
        <p:nvSpPr>
          <p:cNvPr id="18" name="Text 10"/>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6CE"/>
                </a:solidFill>
                <a:latin typeface="JetBrains Mono" pitchFamily="49" charset="0"/>
                <a:ea typeface="JetBrains Mono" pitchFamily="49" charset="-122"/>
                <a:cs typeface="JetBrains Mono" pitchFamily="49" charset="-120"/>
              </a:rPr>
              <a:t>CLASSICAL HUMAN POSE ESTIMATION / FINAL REVIEW</a:t>
            </a:r>
            <a:endParaRPr lang="en-US" sz="1200" dirty="0"/>
          </a:p>
        </p:txBody>
      </p:sp>
      <p:sp>
        <p:nvSpPr>
          <p:cNvPr id="19" name="Text 1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6CE"/>
                </a:solidFill>
                <a:latin typeface="JetBrains Mono" pitchFamily="49" charset="0"/>
                <a:ea typeface="JetBrains Mono" pitchFamily="49" charset="-122"/>
                <a:cs typeface="JetBrains Mono" pitchFamily="49" charset="-120"/>
              </a:rPr>
              <a:t>20</a:t>
            </a:r>
            <a:endParaRPr lang="en-US" sz="1200" dirty="0"/>
          </a:p>
        </p:txBody>
      </p:sp>
    </p:spTree>
  </p:cSld>
  <p:clrMapOvr>
    <a:masterClrMapping/>
  </p:clrMapOvr>
</p:sld>
</file>

<file path=ppt/theme/theme1.xml><?xml version="1.0" encoding="utf-8"?>
<a:theme xmlns:a="http://schemas.openxmlformats.org/drawingml/2006/main" name="Revisiting Classical Human Pose Estimation — Final Review">
  <a:themeElements>
    <a:clrScheme name="Revisiting Classical Human Pose Estimation — Final Review">
      <a:dk1>
        <a:srgbClr val="17212B"/>
      </a:dk1>
      <a:lt1>
        <a:srgbClr val="F5F2EC"/>
      </a:lt1>
      <a:dk2>
        <a:srgbClr val="4F555B"/>
      </a:dk2>
      <a:lt2>
        <a:srgbClr val="DFDDD9"/>
      </a:lt2>
      <a:accent1>
        <a:srgbClr val="B4472E"/>
      </a:accent1>
      <a:accent2>
        <a:srgbClr val="2D6CB5"/>
      </a:accent2>
      <a:accent3>
        <a:srgbClr val="F2937A"/>
      </a:accent3>
      <a:accent4>
        <a:srgbClr val="1F4F87"/>
      </a:accent4>
      <a:accent5>
        <a:srgbClr val="4F5A66"/>
      </a:accent5>
      <a:accent6>
        <a:srgbClr val="BFC6CE"/>
      </a:accent6>
      <a:hlink>
        <a:srgbClr val="0563C1"/>
      </a:hlink>
      <a:folHlink>
        <a:srgbClr val="954F72"/>
      </a:folHlink>
    </a:clrScheme>
    <a:fontScheme name="Revisiting Classical Human Pose Estimation — Final Review">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Revisiting Classical Human Pose Estimation — Final Review</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2026-10-26T07:43:44Z</dcterms:created>
  <dcterms:modified xsi:type="dcterms:W3CDTF">2026-10-26T07:43:44Z</dcterms:modified>
</cp:coreProperties>
</file>